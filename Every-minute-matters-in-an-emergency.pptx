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Figtree"/>
      <p:regular r:id="rId201314"/>
    </p:embeddedFont>
    <p:embeddedFont>
      <p:font typeface="Figtree SemiBold"/>
      <p:regular r:id="rId201315"/>
    </p:embeddedFont>
    <p:embeddedFont>
      <p:font typeface="Figtree Bold"/>
      <p:regular r:id="rId201316"/>
    </p:embeddedFont>
    <p:embeddedFont>
      <p:font typeface="Red Hat Mono Medium"/>
      <p:regular r:id="rId201317"/>
    </p:embeddedFont>
    <p:embeddedFont>
      <p:font typeface="Urbanist SemiBold"/>
      <p:regular r:id="rId201318"/>
    </p:embeddedFont>
    <p:embeddedFont>
      <p:font typeface="Urbanist Extra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Emergency routing is a moving decision, not a one-time map lookup. This deck follows how live traffic intelligence and AI can help an ambulance reach the hospital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standard navigation system often starts with what is already known. In an emergency, conditions can change faster than the route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does not wait for a driver to discover a blockage. It combines what is happening now with what is likely to happen next, then keeps the recommendation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continuous. Signals enter the system, become a prediction, shape an optimized route, and return to the vehicle. New signals then restart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are good at responding to visible events. A model can also learn recurring relationships: how speed changes before a blockage, how weather shifts travel time, and which routes recover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route is the one most likely to arrive quickly, not necessarily the one with the fewest road miles. The algorithm keeps comparing alternatives as conditions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signal has to be perfect. Falling speeds, GPS movement, cameras, sensors, incident reports, construction, weather, and rising traffic density can reinforce one another until a reroute becomes the safer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comes from connection. Data sources feed a shared pipeline, prediction informs route optimization, and the result reaches both the ambulance driver and the control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difference. The original route normally takes 18 minutes, but an accident prediction changes its expected travel time to 32 minutes. At 15 minutes, the system recommends an alternative predicted to take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chain of outcomes: better signals support better predictions, better predictions support better routing, and better routing supports emergency teams when the margin for delay is smallest.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E9F4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8000"/>
            </a:srgbClr>
          </a:solidFill>
          <a:ln/>
        </p:spPr>
      </p:sp>
      <p:sp>
        <p:nvSpPr>
          <p:cNvPr id="4" name="Shape 1"/>
          <p:cNvSpPr/>
          <p:nvPr/>
        </p:nvSpPr>
        <p:spPr>
          <a:xfrm>
            <a:off x="0" y="0"/>
            <a:ext cx="12191695" cy="6858000"/>
          </a:xfrm>
          <a:prstGeom prst="rect">
            <a:avLst>
              <a:gd name="adj" fmla="val 3111"/>
            </a:avLst>
          </a:prstGeom>
          <a:solidFill>
            <a:srgbClr val="FFFFFF"/>
          </a:solidFill>
          <a:ln/>
        </p:spPr>
      </p:sp>
      <p:pic>
        <p:nvPicPr>
          <p:cNvPr id="5"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E9F4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E9F4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2000"/>
            </a:srgbClr>
          </a:solidFill>
          <a:ln/>
        </p:spPr>
      </p:sp>
      <p:sp>
        <p:nvSpPr>
          <p:cNvPr id="4" name="Shape 1"/>
          <p:cNvSpPr/>
          <p:nvPr/>
        </p:nvSpPr>
        <p:spPr>
          <a:xfrm>
            <a:off x="0" y="0"/>
            <a:ext cx="12191695" cy="6858000"/>
          </a:xfrm>
          <a:prstGeom prst="rect">
            <a:avLst>
              <a:gd name="adj" fmla="val 3111"/>
            </a:avLst>
          </a:prstGeom>
          <a:solidFill>
            <a:srgbClr val="FFFFFF"/>
          </a:solidFill>
          <a:ln/>
        </p:spPr>
      </p:sp>
      <p:pic>
        <p:nvPicPr>
          <p:cNvPr id="5"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31789" y="2351782"/>
            <a:ext cx="11759906"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SMART EMERGENCY ROUTING</a:t>
            </a:r>
            <a:endParaRPr lang="en-US" sz="1100" dirty="0"/>
          </a:p>
        </p:txBody>
      </p:sp>
      <p:sp>
        <p:nvSpPr>
          <p:cNvPr id="3" name="Text 1"/>
          <p:cNvSpPr/>
          <p:nvPr/>
        </p:nvSpPr>
        <p:spPr>
          <a:xfrm>
            <a:off x="431789" y="2602607"/>
            <a:ext cx="11328117" cy="693341"/>
          </a:xfrm>
          <a:prstGeom prst="rect">
            <a:avLst/>
          </a:prstGeom>
          <a:noFill/>
          <a:ln/>
        </p:spPr>
        <p:txBody>
          <a:bodyPr wrap="none" lIns="0" tIns="0" rIns="0" bIns="0" rtlCol="0" anchor="t"/>
          <a:lstStyle/>
          <a:p>
            <a:pPr algn="l" indent="0" marL="0">
              <a:lnSpc>
                <a:spcPct val="88000"/>
              </a:lnSpc>
              <a:buNone/>
            </a:pPr>
            <a:r>
              <a:rPr lang="en-US" sz="5200" spc="-104" kern="100" dirty="0">
                <a:solidFill>
                  <a:srgbClr val="1E2A44"/>
                </a:solidFill>
                <a:latin typeface="Urbanist ExtraBold" pitchFamily="34" charset="0"/>
                <a:ea typeface="Urbanist ExtraBold" pitchFamily="34" charset="-122"/>
                <a:cs typeface="Urbanist ExtraBold" pitchFamily="34" charset="-120"/>
              </a:rPr>
              <a:t>Every minute matters in an emergency</a:t>
            </a:r>
            <a:endParaRPr lang="en-US" sz="5200" dirty="0"/>
          </a:p>
        </p:txBody>
      </p:sp>
      <p:sp>
        <p:nvSpPr>
          <p:cNvPr id="4" name="Text 2"/>
          <p:cNvSpPr/>
          <p:nvPr/>
        </p:nvSpPr>
        <p:spPr>
          <a:xfrm>
            <a:off x="431789" y="3513832"/>
            <a:ext cx="11759906" cy="319980"/>
          </a:xfrm>
          <a:prstGeom prst="rect">
            <a:avLst/>
          </a:prstGeom>
          <a:noFill/>
          <a:ln/>
        </p:spPr>
        <p:txBody>
          <a:bodyPr wrap="none" lIns="0" tIns="0" rIns="0" bIns="0" rtlCol="0" anchor="t"/>
          <a:lstStyle/>
          <a:p>
            <a:pPr algn="l" indent="0" marL="0">
              <a:lnSpc>
                <a:spcPct val="117000"/>
              </a:lnSpc>
              <a:buNone/>
            </a:pPr>
            <a:r>
              <a:rPr lang="en-US" sz="1800" dirty="0">
                <a:solidFill>
                  <a:srgbClr val="1E2A44"/>
                </a:solidFill>
                <a:latin typeface="Figtree" pitchFamily="34" charset="0"/>
                <a:ea typeface="Figtree" pitchFamily="34" charset="-122"/>
                <a:cs typeface="Figtree" pitchFamily="34" charset="-120"/>
              </a:rPr>
              <a:t>How AI, traffic intelligence, and route optimization can help an ambulance reach the hospital faster.</a:t>
            </a:r>
            <a:endParaRPr lang="en-US" sz="1800" dirty="0"/>
          </a:p>
        </p:txBody>
      </p:sp>
      <p:pic>
        <p:nvPicPr>
          <p:cNvPr id="5" name="Image 0" descr="preencoded.png">    </p:cNvPr>
          <p:cNvPicPr>
            <a:picLocks noChangeAspect="1"/>
          </p:cNvPicPr>
          <p:nvPr/>
        </p:nvPicPr>
        <p:blipFill>
          <a:blip r:embed="rId1"/>
          <a:stretch>
            <a:fillRect/>
          </a:stretch>
        </p:blipFill>
        <p:spPr>
          <a:xfrm>
            <a:off x="431789" y="4005263"/>
            <a:ext cx="11328117" cy="123825"/>
          </a:xfrm>
          <a:prstGeom prst="rect">
            <a:avLst/>
          </a:prstGeom>
        </p:spPr>
      </p:pic>
      <p:sp>
        <p:nvSpPr>
          <p:cNvPr id="6" name="Text 3"/>
          <p:cNvSpPr/>
          <p:nvPr/>
        </p:nvSpPr>
        <p:spPr>
          <a:xfrm>
            <a:off x="431789" y="4300538"/>
            <a:ext cx="11759906"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Live signals · predictive routing · faster decisions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2071985"/>
            <a:ext cx="5486263"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ROUTE IS NEVER STATIC</a:t>
            </a:r>
            <a:endParaRPr lang="en-US" sz="1100" dirty="0"/>
          </a:p>
        </p:txBody>
      </p:sp>
      <p:sp>
        <p:nvSpPr>
          <p:cNvPr id="3" name="Text 1"/>
          <p:cNvSpPr/>
          <p:nvPr/>
        </p:nvSpPr>
        <p:spPr>
          <a:xfrm>
            <a:off x="609585" y="2322810"/>
            <a:ext cx="4876678" cy="800100"/>
          </a:xfrm>
          <a:prstGeom prst="rect">
            <a:avLst/>
          </a:prstGeom>
          <a:noFill/>
          <a:ln/>
        </p:spPr>
        <p:txBody>
          <a:bodyPr wrap="square" lIns="0" tIns="0" rIns="0" bIns="0" rtlCol="0" anchor="t">
            <a:normAutofit/>
          </a:bodyPr>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Unexpected traffic turns a route into a risk</a:t>
            </a:r>
            <a:endParaRPr lang="en-US" sz="3000" dirty="0"/>
          </a:p>
        </p:txBody>
      </p:sp>
      <p:sp>
        <p:nvSpPr>
          <p:cNvPr id="4" name="Text 2"/>
          <p:cNvSpPr/>
          <p:nvPr/>
        </p:nvSpPr>
        <p:spPr>
          <a:xfrm>
            <a:off x="609585" y="3313410"/>
            <a:ext cx="4876678" cy="8001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Congestion, accidents, roadblocks, construction, events, and weather can make a normal navigation choice inefficient within minutes.</a:t>
            </a:r>
            <a:endParaRPr lang="en-US" sz="1500" dirty="0"/>
          </a:p>
        </p:txBody>
      </p:sp>
      <p:pic>
        <p:nvPicPr>
          <p:cNvPr id="5" name="Image 0" descr="preencoded.png">    </p:cNvPr>
          <p:cNvPicPr>
            <a:picLocks noChangeAspect="1"/>
          </p:cNvPicPr>
          <p:nvPr/>
        </p:nvPicPr>
        <p:blipFill>
          <a:blip r:embed="rId1"/>
          <a:stretch>
            <a:fillRect/>
          </a:stretch>
        </p:blipFill>
        <p:spPr>
          <a:xfrm>
            <a:off x="609585" y="4284960"/>
            <a:ext cx="4876678" cy="123825"/>
          </a:xfrm>
          <a:prstGeom prst="rect">
            <a:avLst/>
          </a:prstGeom>
        </p:spPr>
      </p:pic>
      <p:sp>
        <p:nvSpPr>
          <p:cNvPr id="6" name="Text 3"/>
          <p:cNvSpPr/>
          <p:nvPr/>
        </p:nvSpPr>
        <p:spPr>
          <a:xfrm>
            <a:off x="609585" y="4580235"/>
            <a:ext cx="5486263" cy="205680"/>
          </a:xfrm>
          <a:prstGeom prst="rect">
            <a:avLst/>
          </a:prstGeom>
          <a:noFill/>
          <a:ln/>
        </p:spPr>
        <p:txBody>
          <a:bodyPr wrap="none" lIns="0" tIns="0" rIns="0" bIns="0" rtlCol="0" anchor="t"/>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A route that looks clear on a map may already be slowing down.</a:t>
            </a:r>
            <a:endParaRPr lang="en-US" sz="1200" dirty="0"/>
          </a:p>
        </p:txBody>
      </p:sp>
      <p:pic>
        <p:nvPicPr>
          <p:cNvPr id="7" name="Image 1" descr="preencoded.png">    </p:cNvPr>
          <p:cNvPicPr>
            <a:picLocks noChangeAspect="1"/>
          </p:cNvPicPr>
          <p:nvPr/>
        </p:nvPicPr>
        <p:blipFill>
          <a:blip r:embed="rId2"/>
          <a:stretch>
            <a:fillRect/>
          </a:stretch>
        </p:blipFill>
        <p:spPr>
          <a:xfrm>
            <a:off x="6095848" y="0"/>
            <a:ext cx="609584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2170113"/>
            <a:ext cx="5892653"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CORE IDEA</a:t>
            </a:r>
            <a:endParaRPr lang="en-US" sz="1100" dirty="0"/>
          </a:p>
        </p:txBody>
      </p:sp>
      <p:sp>
        <p:nvSpPr>
          <p:cNvPr id="3" name="Text 1"/>
          <p:cNvSpPr/>
          <p:nvPr/>
        </p:nvSpPr>
        <p:spPr>
          <a:xfrm>
            <a:off x="609585" y="2420938"/>
            <a:ext cx="5283068" cy="800100"/>
          </a:xfrm>
          <a:prstGeom prst="rect">
            <a:avLst/>
          </a:prstGeom>
          <a:noFill/>
          <a:ln/>
        </p:spPr>
        <p:txBody>
          <a:bodyPr wrap="square" lIns="0" tIns="0" rIns="0" bIns="0" rtlCol="0" anchor="t">
            <a:normAutofit/>
          </a:bodyPr>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One AI system keeps the route one step ahead</a:t>
            </a:r>
            <a:endParaRPr lang="en-US" sz="3000" dirty="0"/>
          </a:p>
        </p:txBody>
      </p:sp>
      <p:sp>
        <p:nvSpPr>
          <p:cNvPr id="4" name="Text 2"/>
          <p:cNvSpPr/>
          <p:nvPr/>
        </p:nvSpPr>
        <p:spPr>
          <a:xfrm>
            <a:off x="609585" y="3411538"/>
            <a:ext cx="5283068" cy="8001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It gathers live road data, predicts blockages, compares alternatives, and continuously updates the ambulance recommendation.</a:t>
            </a:r>
            <a:endParaRPr lang="en-US" sz="1500" dirty="0"/>
          </a:p>
        </p:txBody>
      </p:sp>
      <p:sp>
        <p:nvSpPr>
          <p:cNvPr id="5" name="Shape 3"/>
          <p:cNvSpPr/>
          <p:nvPr/>
        </p:nvSpPr>
        <p:spPr>
          <a:xfrm>
            <a:off x="609585" y="4383088"/>
            <a:ext cx="4233558" cy="304800"/>
          </a:xfrm>
          <a:prstGeom prst="roundRect">
            <a:avLst>
              <a:gd name="adj" fmla="val 44999"/>
            </a:avLst>
          </a:prstGeom>
          <a:solidFill>
            <a:srgbClr val="DCE2EF"/>
          </a:solidFill>
          <a:ln/>
        </p:spPr>
      </p:sp>
      <p:sp>
        <p:nvSpPr>
          <p:cNvPr id="6" name="Text 4"/>
          <p:cNvSpPr/>
          <p:nvPr/>
        </p:nvSpPr>
        <p:spPr>
          <a:xfrm>
            <a:off x="723882" y="4440238"/>
            <a:ext cx="4614549" cy="190500"/>
          </a:xfrm>
          <a:prstGeom prst="rect">
            <a:avLst/>
          </a:prstGeom>
          <a:noFill/>
          <a:ln/>
        </p:spPr>
        <p:txBody>
          <a:bodyPr wrap="none" lIns="0" tIns="0" rIns="0" bIns="0" rtlCol="0" anchor="t"/>
          <a:lstStyle/>
          <a:p>
            <a:pPr algn="l" indent="0" marL="0">
              <a:lnSpc>
                <a:spcPct val="104000"/>
              </a:lnSpc>
              <a:buNone/>
            </a:pPr>
            <a:r>
              <a:rPr lang="en-US" sz="1200" spc="72" kern="100" dirty="0">
                <a:solidFill>
                  <a:srgbClr val="1E2A44"/>
                </a:solidFill>
                <a:latin typeface="Red Hat Mono Medium" pitchFamily="34" charset="0"/>
                <a:ea typeface="Red Hat Mono Medium" pitchFamily="34" charset="-122"/>
                <a:cs typeface="Red Hat Mono Medium" pitchFamily="34" charset="-120"/>
              </a:rPr>
              <a:t>OBSERVE → PREDICT → RECOMMEND → UPDATE</a:t>
            </a:r>
            <a:endParaRPr lang="en-US" sz="1200" dirty="0"/>
          </a:p>
        </p:txBody>
      </p:sp>
      <p:pic>
        <p:nvPicPr>
          <p:cNvPr id="7" name="Image 0" descr="preencoded.png">    </p:cNvPr>
          <p:cNvPicPr>
            <a:picLocks noChangeAspect="1"/>
          </p:cNvPicPr>
          <p:nvPr/>
        </p:nvPicPr>
        <p:blipFill>
          <a:blip r:embed="rId1"/>
          <a:stretch>
            <a:fillRect/>
          </a:stretch>
        </p:blipFill>
        <p:spPr>
          <a:xfrm>
            <a:off x="6502237" y="0"/>
            <a:ext cx="5689458"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LIVE DECISION LOOP</a:t>
            </a:r>
            <a:endParaRPr lang="en-US" sz="1100" dirty="0"/>
          </a:p>
        </p:txBody>
      </p:sp>
      <p:sp>
        <p:nvSpPr>
          <p:cNvPr id="3" name="Text 1"/>
          <p:cNvSpPr/>
          <p:nvPr/>
        </p:nvSpPr>
        <p:spPr>
          <a:xfrm>
            <a:off x="609585" y="860425"/>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From raw signals to a live route decision</a:t>
            </a:r>
            <a:endParaRPr lang="en-US" sz="3000" dirty="0"/>
          </a:p>
        </p:txBody>
      </p:sp>
      <p:sp>
        <p:nvSpPr>
          <p:cNvPr id="4" name="Text 2"/>
          <p:cNvSpPr/>
          <p:nvPr/>
        </p:nvSpPr>
        <p:spPr>
          <a:xfrm>
            <a:off x="609585" y="1450975"/>
            <a:ext cx="11582110"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Every stage turns uncertain road conditions into a recommendation the ambulance can act on.</a:t>
            </a:r>
            <a:endParaRPr lang="en-US" sz="1500" dirty="0"/>
          </a:p>
        </p:txBody>
      </p:sp>
      <p:sp>
        <p:nvSpPr>
          <p:cNvPr id="5" name="Shape 3"/>
          <p:cNvSpPr/>
          <p:nvPr/>
        </p:nvSpPr>
        <p:spPr>
          <a:xfrm>
            <a:off x="609585" y="1889125"/>
            <a:ext cx="3505112" cy="2027238"/>
          </a:xfrm>
          <a:prstGeom prst="roundRect">
            <a:avLst>
              <a:gd name="adj" fmla="val 10524"/>
            </a:avLst>
          </a:prstGeom>
          <a:solidFill>
            <a:srgbClr val="FFFFFF"/>
          </a:solidFill>
          <a:ln/>
        </p:spPr>
      </p:sp>
      <p:sp>
        <p:nvSpPr>
          <p:cNvPr id="6" name="Shape 4"/>
          <p:cNvSpPr/>
          <p:nvPr/>
        </p:nvSpPr>
        <p:spPr>
          <a:xfrm>
            <a:off x="838179" y="2117725"/>
            <a:ext cx="333367" cy="333375"/>
          </a:xfrm>
          <a:prstGeom prst="ellipse">
            <a:avLst/>
          </a:prstGeom>
          <a:solidFill>
            <a:srgbClr val="1E2A44"/>
          </a:solidFill>
          <a:ln w="6350">
            <a:solidFill>
              <a:srgbClr val="37435D"/>
            </a:solidFill>
            <a:prstDash val="solid"/>
          </a:ln>
        </p:spPr>
      </p:sp>
      <p:sp>
        <p:nvSpPr>
          <p:cNvPr id="7" name="Text 5"/>
          <p:cNvSpPr/>
          <p:nvPr/>
        </p:nvSpPr>
        <p:spPr>
          <a:xfrm>
            <a:off x="903463" y="2189163"/>
            <a:ext cx="812284" cy="190500"/>
          </a:xfrm>
          <a:prstGeom prst="rect">
            <a:avLst/>
          </a:prstGeom>
          <a:noFill/>
          <a:ln/>
        </p:spPr>
        <p:txBody>
          <a:bodyPr wrap="none" lIns="0" tIns="0" rIns="0" bIns="0" rtlCol="0" anchor="t"/>
          <a:lstStyle/>
          <a:p>
            <a:pPr algn="l" indent="0" marL="0">
              <a:lnSpc>
                <a:spcPct val="83000"/>
              </a:lnSpc>
              <a:buNone/>
            </a:pPr>
            <a:r>
              <a:rPr lang="en-US" sz="1500" dirty="0">
                <a:solidFill>
                  <a:srgbClr val="FFFFFF"/>
                </a:solidFill>
                <a:latin typeface="Figtree SemiBold" pitchFamily="34" charset="0"/>
                <a:ea typeface="Figtree SemiBold" pitchFamily="34" charset="-122"/>
                <a:cs typeface="Figtree SemiBold" pitchFamily="34" charset="-120"/>
              </a:rPr>
              <a:t>01</a:t>
            </a:r>
            <a:endParaRPr lang="en-US" sz="1500" dirty="0"/>
          </a:p>
        </p:txBody>
      </p:sp>
      <p:sp>
        <p:nvSpPr>
          <p:cNvPr id="8" name="Text 6"/>
          <p:cNvSpPr/>
          <p:nvPr/>
        </p:nvSpPr>
        <p:spPr>
          <a:xfrm>
            <a:off x="838179" y="2565400"/>
            <a:ext cx="3047924"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Collect</a:t>
            </a:r>
            <a:endParaRPr lang="en-US" sz="1600" dirty="0"/>
          </a:p>
        </p:txBody>
      </p:sp>
      <p:sp>
        <p:nvSpPr>
          <p:cNvPr id="9" name="Text 7"/>
          <p:cNvSpPr/>
          <p:nvPr/>
        </p:nvSpPr>
        <p:spPr>
          <a:xfrm>
            <a:off x="838179" y="2945705"/>
            <a:ext cx="3047924"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GPS, sensors, maps, historical traffic, incidents, weather, vehicle reports</a:t>
            </a:r>
            <a:endParaRPr lang="en-US" sz="1200" dirty="0"/>
          </a:p>
        </p:txBody>
      </p:sp>
      <p:sp>
        <p:nvSpPr>
          <p:cNvPr id="10" name="Shape 8"/>
          <p:cNvSpPr/>
          <p:nvPr/>
        </p:nvSpPr>
        <p:spPr>
          <a:xfrm>
            <a:off x="4419489" y="1889125"/>
            <a:ext cx="3352716" cy="2027238"/>
          </a:xfrm>
          <a:prstGeom prst="roundRect">
            <a:avLst>
              <a:gd name="adj" fmla="val 10524"/>
            </a:avLst>
          </a:prstGeom>
          <a:solidFill>
            <a:srgbClr val="FFFFFF"/>
          </a:solidFill>
          <a:ln/>
        </p:spPr>
      </p:sp>
      <p:sp>
        <p:nvSpPr>
          <p:cNvPr id="11" name="Shape 9"/>
          <p:cNvSpPr/>
          <p:nvPr/>
        </p:nvSpPr>
        <p:spPr>
          <a:xfrm>
            <a:off x="4648084" y="2117725"/>
            <a:ext cx="339617" cy="339626"/>
          </a:xfrm>
          <a:prstGeom prst="ellipse">
            <a:avLst/>
          </a:prstGeom>
          <a:solidFill>
            <a:srgbClr val="1E2A44"/>
          </a:solidFill>
          <a:ln w="6350">
            <a:solidFill>
              <a:srgbClr val="37435D"/>
            </a:solidFill>
            <a:prstDash val="solid"/>
          </a:ln>
        </p:spPr>
      </p:sp>
      <p:sp>
        <p:nvSpPr>
          <p:cNvPr id="12" name="Text 10"/>
          <p:cNvSpPr/>
          <p:nvPr/>
        </p:nvSpPr>
        <p:spPr>
          <a:xfrm>
            <a:off x="4702057" y="2192238"/>
            <a:ext cx="841255" cy="190500"/>
          </a:xfrm>
          <a:prstGeom prst="rect">
            <a:avLst/>
          </a:prstGeom>
          <a:noFill/>
          <a:ln/>
        </p:spPr>
        <p:txBody>
          <a:bodyPr wrap="none" lIns="0" tIns="0" rIns="0" bIns="0" rtlCol="0" anchor="t"/>
          <a:lstStyle/>
          <a:p>
            <a:pPr algn="l" indent="0" marL="0">
              <a:lnSpc>
                <a:spcPct val="83000"/>
              </a:lnSpc>
              <a:buNone/>
            </a:pPr>
            <a:r>
              <a:rPr lang="en-US" sz="1500" dirty="0">
                <a:solidFill>
                  <a:srgbClr val="FFFFFF"/>
                </a:solidFill>
                <a:latin typeface="Figtree SemiBold" pitchFamily="34" charset="0"/>
                <a:ea typeface="Figtree SemiBold" pitchFamily="34" charset="-122"/>
                <a:cs typeface="Figtree SemiBold" pitchFamily="34" charset="-120"/>
              </a:rPr>
              <a:t>02</a:t>
            </a:r>
            <a:endParaRPr lang="en-US" sz="1500" dirty="0"/>
          </a:p>
        </p:txBody>
      </p:sp>
      <p:sp>
        <p:nvSpPr>
          <p:cNvPr id="13" name="Text 11"/>
          <p:cNvSpPr/>
          <p:nvPr/>
        </p:nvSpPr>
        <p:spPr>
          <a:xfrm>
            <a:off x="4648084" y="2571651"/>
            <a:ext cx="2895528"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Process</a:t>
            </a:r>
            <a:endParaRPr lang="en-US" sz="1600" dirty="0"/>
          </a:p>
        </p:txBody>
      </p:sp>
      <p:sp>
        <p:nvSpPr>
          <p:cNvPr id="14" name="Text 12"/>
          <p:cNvSpPr/>
          <p:nvPr/>
        </p:nvSpPr>
        <p:spPr>
          <a:xfrm>
            <a:off x="4648084" y="2951956"/>
            <a:ext cx="2895528"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Clean, align, and combine signals into one road picture</a:t>
            </a:r>
            <a:endParaRPr lang="en-US" sz="1200" dirty="0"/>
          </a:p>
        </p:txBody>
      </p:sp>
      <p:sp>
        <p:nvSpPr>
          <p:cNvPr id="15" name="Shape 13"/>
          <p:cNvSpPr/>
          <p:nvPr/>
        </p:nvSpPr>
        <p:spPr>
          <a:xfrm>
            <a:off x="8076998" y="1889125"/>
            <a:ext cx="3505112" cy="2027238"/>
          </a:xfrm>
          <a:prstGeom prst="roundRect">
            <a:avLst>
              <a:gd name="adj" fmla="val 10524"/>
            </a:avLst>
          </a:prstGeom>
          <a:solidFill>
            <a:srgbClr val="FFFFFF"/>
          </a:solidFill>
          <a:ln/>
        </p:spPr>
      </p:sp>
      <p:sp>
        <p:nvSpPr>
          <p:cNvPr id="16" name="Shape 14"/>
          <p:cNvSpPr/>
          <p:nvPr/>
        </p:nvSpPr>
        <p:spPr>
          <a:xfrm>
            <a:off x="8305592" y="2117725"/>
            <a:ext cx="335847" cy="335855"/>
          </a:xfrm>
          <a:prstGeom prst="ellipse">
            <a:avLst/>
          </a:prstGeom>
          <a:solidFill>
            <a:srgbClr val="1E2A44"/>
          </a:solidFill>
          <a:ln w="6350">
            <a:solidFill>
              <a:srgbClr val="37435D"/>
            </a:solidFill>
            <a:prstDash val="solid"/>
          </a:ln>
        </p:spPr>
      </p:sp>
      <p:sp>
        <p:nvSpPr>
          <p:cNvPr id="17" name="Text 15"/>
          <p:cNvSpPr/>
          <p:nvPr/>
        </p:nvSpPr>
        <p:spPr>
          <a:xfrm>
            <a:off x="8359566" y="2190353"/>
            <a:ext cx="837485" cy="190500"/>
          </a:xfrm>
          <a:prstGeom prst="rect">
            <a:avLst/>
          </a:prstGeom>
          <a:noFill/>
          <a:ln/>
        </p:spPr>
        <p:txBody>
          <a:bodyPr wrap="none" lIns="0" tIns="0" rIns="0" bIns="0" rtlCol="0" anchor="t"/>
          <a:lstStyle/>
          <a:p>
            <a:pPr algn="l" indent="0" marL="0">
              <a:lnSpc>
                <a:spcPct val="83000"/>
              </a:lnSpc>
              <a:buNone/>
            </a:pPr>
            <a:r>
              <a:rPr lang="en-US" sz="1500" dirty="0">
                <a:solidFill>
                  <a:srgbClr val="FFFFFF"/>
                </a:solidFill>
                <a:latin typeface="Figtree SemiBold" pitchFamily="34" charset="0"/>
                <a:ea typeface="Figtree SemiBold" pitchFamily="34" charset="-122"/>
                <a:cs typeface="Figtree SemiBold" pitchFamily="34" charset="-120"/>
              </a:rPr>
              <a:t>03</a:t>
            </a:r>
            <a:endParaRPr lang="en-US" sz="1500" dirty="0"/>
          </a:p>
        </p:txBody>
      </p:sp>
      <p:sp>
        <p:nvSpPr>
          <p:cNvPr id="18" name="Text 16"/>
          <p:cNvSpPr/>
          <p:nvPr/>
        </p:nvSpPr>
        <p:spPr>
          <a:xfrm>
            <a:off x="8305592" y="2567880"/>
            <a:ext cx="3047924"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Predict</a:t>
            </a:r>
            <a:endParaRPr lang="en-US" sz="1600" dirty="0"/>
          </a:p>
        </p:txBody>
      </p:sp>
      <p:sp>
        <p:nvSpPr>
          <p:cNvPr id="19" name="Text 17"/>
          <p:cNvSpPr/>
          <p:nvPr/>
        </p:nvSpPr>
        <p:spPr>
          <a:xfrm>
            <a:off x="8305592" y="2948186"/>
            <a:ext cx="3276518"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Estimate congestion and travel time ahead</a:t>
            </a:r>
            <a:endParaRPr lang="en-US" sz="1200" dirty="0"/>
          </a:p>
        </p:txBody>
      </p:sp>
      <p:sp>
        <p:nvSpPr>
          <p:cNvPr id="20" name="Shape 18"/>
          <p:cNvSpPr/>
          <p:nvPr/>
        </p:nvSpPr>
        <p:spPr>
          <a:xfrm>
            <a:off x="609585" y="4221163"/>
            <a:ext cx="3505112" cy="2027238"/>
          </a:xfrm>
          <a:prstGeom prst="roundRect">
            <a:avLst>
              <a:gd name="adj" fmla="val 10524"/>
            </a:avLst>
          </a:prstGeom>
          <a:solidFill>
            <a:srgbClr val="FFFFFF"/>
          </a:solidFill>
          <a:ln/>
        </p:spPr>
      </p:sp>
      <p:sp>
        <p:nvSpPr>
          <p:cNvPr id="21" name="Shape 19"/>
          <p:cNvSpPr/>
          <p:nvPr/>
        </p:nvSpPr>
        <p:spPr>
          <a:xfrm>
            <a:off x="838179" y="4449762"/>
            <a:ext cx="350531" cy="350540"/>
          </a:xfrm>
          <a:prstGeom prst="ellipse">
            <a:avLst/>
          </a:prstGeom>
          <a:solidFill>
            <a:srgbClr val="1E2A44"/>
          </a:solidFill>
          <a:ln w="6350">
            <a:solidFill>
              <a:srgbClr val="37435D"/>
            </a:solidFill>
            <a:prstDash val="solid"/>
          </a:ln>
        </p:spPr>
      </p:sp>
      <p:sp>
        <p:nvSpPr>
          <p:cNvPr id="22" name="Text 20"/>
          <p:cNvSpPr/>
          <p:nvPr/>
        </p:nvSpPr>
        <p:spPr>
          <a:xfrm>
            <a:off x="892153" y="4529733"/>
            <a:ext cx="852169" cy="190500"/>
          </a:xfrm>
          <a:prstGeom prst="rect">
            <a:avLst/>
          </a:prstGeom>
          <a:noFill/>
          <a:ln/>
        </p:spPr>
        <p:txBody>
          <a:bodyPr wrap="none" lIns="0" tIns="0" rIns="0" bIns="0" rtlCol="0" anchor="t"/>
          <a:lstStyle/>
          <a:p>
            <a:pPr algn="l" indent="0" marL="0">
              <a:lnSpc>
                <a:spcPct val="83000"/>
              </a:lnSpc>
              <a:buNone/>
            </a:pPr>
            <a:r>
              <a:rPr lang="en-US" sz="1500" dirty="0">
                <a:solidFill>
                  <a:srgbClr val="FFFFFF"/>
                </a:solidFill>
                <a:latin typeface="Figtree SemiBold" pitchFamily="34" charset="0"/>
                <a:ea typeface="Figtree SemiBold" pitchFamily="34" charset="-122"/>
                <a:cs typeface="Figtree SemiBold" pitchFamily="34" charset="-120"/>
              </a:rPr>
              <a:t>04</a:t>
            </a:r>
            <a:endParaRPr lang="en-US" sz="1500" dirty="0"/>
          </a:p>
        </p:txBody>
      </p:sp>
      <p:sp>
        <p:nvSpPr>
          <p:cNvPr id="23" name="Text 21"/>
          <p:cNvSpPr/>
          <p:nvPr/>
        </p:nvSpPr>
        <p:spPr>
          <a:xfrm>
            <a:off x="838179" y="4914602"/>
            <a:ext cx="3047924"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Optimize</a:t>
            </a:r>
            <a:endParaRPr lang="en-US" sz="1600" dirty="0"/>
          </a:p>
        </p:txBody>
      </p:sp>
      <p:sp>
        <p:nvSpPr>
          <p:cNvPr id="24" name="Text 22"/>
          <p:cNvSpPr/>
          <p:nvPr/>
        </p:nvSpPr>
        <p:spPr>
          <a:xfrm>
            <a:off x="838179" y="5294908"/>
            <a:ext cx="3276518"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Compare routes against time and reliability</a:t>
            </a:r>
            <a:endParaRPr lang="en-US" sz="1200" dirty="0"/>
          </a:p>
        </p:txBody>
      </p:sp>
      <p:sp>
        <p:nvSpPr>
          <p:cNvPr id="25" name="Shape 23"/>
          <p:cNvSpPr/>
          <p:nvPr/>
        </p:nvSpPr>
        <p:spPr>
          <a:xfrm>
            <a:off x="4419489" y="4221163"/>
            <a:ext cx="3352716" cy="2027238"/>
          </a:xfrm>
          <a:prstGeom prst="roundRect">
            <a:avLst>
              <a:gd name="adj" fmla="val 10524"/>
            </a:avLst>
          </a:prstGeom>
          <a:solidFill>
            <a:srgbClr val="FFFFFF"/>
          </a:solidFill>
          <a:ln/>
        </p:spPr>
      </p:sp>
      <p:sp>
        <p:nvSpPr>
          <p:cNvPr id="26" name="Shape 24"/>
          <p:cNvSpPr/>
          <p:nvPr/>
        </p:nvSpPr>
        <p:spPr>
          <a:xfrm>
            <a:off x="4648084" y="4449762"/>
            <a:ext cx="341006" cy="341015"/>
          </a:xfrm>
          <a:prstGeom prst="ellipse">
            <a:avLst/>
          </a:prstGeom>
          <a:solidFill>
            <a:srgbClr val="1E2A44"/>
          </a:solidFill>
          <a:ln w="6350">
            <a:solidFill>
              <a:srgbClr val="37435D"/>
            </a:solidFill>
            <a:prstDash val="solid"/>
          </a:ln>
        </p:spPr>
      </p:sp>
      <p:sp>
        <p:nvSpPr>
          <p:cNvPr id="27" name="Text 25"/>
          <p:cNvSpPr/>
          <p:nvPr/>
        </p:nvSpPr>
        <p:spPr>
          <a:xfrm>
            <a:off x="4702057" y="4524970"/>
            <a:ext cx="842644" cy="190500"/>
          </a:xfrm>
          <a:prstGeom prst="rect">
            <a:avLst/>
          </a:prstGeom>
          <a:noFill/>
          <a:ln/>
        </p:spPr>
        <p:txBody>
          <a:bodyPr wrap="none" lIns="0" tIns="0" rIns="0" bIns="0" rtlCol="0" anchor="t"/>
          <a:lstStyle/>
          <a:p>
            <a:pPr algn="l" indent="0" marL="0">
              <a:lnSpc>
                <a:spcPct val="83000"/>
              </a:lnSpc>
              <a:buNone/>
            </a:pPr>
            <a:r>
              <a:rPr lang="en-US" sz="1500" dirty="0">
                <a:solidFill>
                  <a:srgbClr val="FFFFFF"/>
                </a:solidFill>
                <a:latin typeface="Figtree SemiBold" pitchFamily="34" charset="0"/>
                <a:ea typeface="Figtree SemiBold" pitchFamily="34" charset="-122"/>
                <a:cs typeface="Figtree SemiBold" pitchFamily="34" charset="-120"/>
              </a:rPr>
              <a:t>05</a:t>
            </a:r>
            <a:endParaRPr lang="en-US" sz="1500" dirty="0"/>
          </a:p>
        </p:txBody>
      </p:sp>
      <p:sp>
        <p:nvSpPr>
          <p:cNvPr id="28" name="Text 26"/>
          <p:cNvSpPr/>
          <p:nvPr/>
        </p:nvSpPr>
        <p:spPr>
          <a:xfrm>
            <a:off x="4648084" y="4905077"/>
            <a:ext cx="2895528"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Navigate</a:t>
            </a:r>
            <a:endParaRPr lang="en-US" sz="1600" dirty="0"/>
          </a:p>
        </p:txBody>
      </p:sp>
      <p:sp>
        <p:nvSpPr>
          <p:cNvPr id="29" name="Text 27"/>
          <p:cNvSpPr/>
          <p:nvPr/>
        </p:nvSpPr>
        <p:spPr>
          <a:xfrm>
            <a:off x="4648084" y="5285383"/>
            <a:ext cx="2895528"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Send the recommendation to the ambulance</a:t>
            </a:r>
            <a:endParaRPr lang="en-US" sz="1200" dirty="0"/>
          </a:p>
        </p:txBody>
      </p:sp>
      <p:sp>
        <p:nvSpPr>
          <p:cNvPr id="30" name="Shape 28"/>
          <p:cNvSpPr/>
          <p:nvPr/>
        </p:nvSpPr>
        <p:spPr>
          <a:xfrm>
            <a:off x="8076998" y="4221163"/>
            <a:ext cx="3505112" cy="2027238"/>
          </a:xfrm>
          <a:prstGeom prst="roundRect">
            <a:avLst>
              <a:gd name="adj" fmla="val 10524"/>
            </a:avLst>
          </a:prstGeom>
          <a:solidFill>
            <a:srgbClr val="FFFFFF"/>
          </a:solidFill>
          <a:ln/>
        </p:spPr>
      </p:sp>
      <p:sp>
        <p:nvSpPr>
          <p:cNvPr id="31" name="Shape 29"/>
          <p:cNvSpPr/>
          <p:nvPr/>
        </p:nvSpPr>
        <p:spPr>
          <a:xfrm>
            <a:off x="8305592" y="4449762"/>
            <a:ext cx="340213" cy="340221"/>
          </a:xfrm>
          <a:prstGeom prst="ellipse">
            <a:avLst/>
          </a:prstGeom>
          <a:solidFill>
            <a:srgbClr val="1E2A44"/>
          </a:solidFill>
          <a:ln w="6350">
            <a:solidFill>
              <a:srgbClr val="37435D"/>
            </a:solidFill>
            <a:prstDash val="solid"/>
          </a:ln>
        </p:spPr>
      </p:sp>
      <p:sp>
        <p:nvSpPr>
          <p:cNvPr id="32" name="Text 30"/>
          <p:cNvSpPr/>
          <p:nvPr/>
        </p:nvSpPr>
        <p:spPr>
          <a:xfrm>
            <a:off x="8359566" y="4524573"/>
            <a:ext cx="841850" cy="190500"/>
          </a:xfrm>
          <a:prstGeom prst="rect">
            <a:avLst/>
          </a:prstGeom>
          <a:noFill/>
          <a:ln/>
        </p:spPr>
        <p:txBody>
          <a:bodyPr wrap="none" lIns="0" tIns="0" rIns="0" bIns="0" rtlCol="0" anchor="t"/>
          <a:lstStyle/>
          <a:p>
            <a:pPr algn="l" indent="0" marL="0">
              <a:lnSpc>
                <a:spcPct val="83000"/>
              </a:lnSpc>
              <a:buNone/>
            </a:pPr>
            <a:r>
              <a:rPr lang="en-US" sz="1500" dirty="0">
                <a:solidFill>
                  <a:srgbClr val="FFFFFF"/>
                </a:solidFill>
                <a:latin typeface="Figtree SemiBold" pitchFamily="34" charset="0"/>
                <a:ea typeface="Figtree SemiBold" pitchFamily="34" charset="-122"/>
                <a:cs typeface="Figtree SemiBold" pitchFamily="34" charset="-120"/>
              </a:rPr>
              <a:t>06</a:t>
            </a:r>
            <a:endParaRPr lang="en-US" sz="1500" dirty="0"/>
          </a:p>
        </p:txBody>
      </p:sp>
      <p:sp>
        <p:nvSpPr>
          <p:cNvPr id="33" name="Text 31"/>
          <p:cNvSpPr/>
          <p:nvPr/>
        </p:nvSpPr>
        <p:spPr>
          <a:xfrm>
            <a:off x="8305592" y="4904284"/>
            <a:ext cx="3047924"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Update</a:t>
            </a:r>
            <a:endParaRPr lang="en-US" sz="1600" dirty="0"/>
          </a:p>
        </p:txBody>
      </p:sp>
      <p:sp>
        <p:nvSpPr>
          <p:cNvPr id="34" name="Text 32"/>
          <p:cNvSpPr/>
          <p:nvPr/>
        </p:nvSpPr>
        <p:spPr>
          <a:xfrm>
            <a:off x="8305592" y="5284589"/>
            <a:ext cx="3276518"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Recalculate whenever conditions change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1532930"/>
            <a:ext cx="3748986"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WHY MACHINE LEARNING HELPS</a:t>
            </a:r>
            <a:endParaRPr lang="en-US" sz="1100" dirty="0"/>
          </a:p>
        </p:txBody>
      </p:sp>
      <p:sp>
        <p:nvSpPr>
          <p:cNvPr id="3" name="Text 1"/>
          <p:cNvSpPr/>
          <p:nvPr/>
        </p:nvSpPr>
        <p:spPr>
          <a:xfrm>
            <a:off x="609585" y="1783755"/>
            <a:ext cx="3139401" cy="1200150"/>
          </a:xfrm>
          <a:prstGeom prst="rect">
            <a:avLst/>
          </a:prstGeom>
          <a:noFill/>
          <a:ln/>
        </p:spPr>
        <p:txBody>
          <a:bodyPr wrap="square" lIns="0" tIns="0" rIns="0" bIns="0" rtlCol="0" anchor="t">
            <a:normAutofit/>
          </a:bodyPr>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The model learns the patterns humans miss</a:t>
            </a:r>
            <a:endParaRPr lang="en-US" sz="3000" dirty="0"/>
          </a:p>
        </p:txBody>
      </p:sp>
      <p:sp>
        <p:nvSpPr>
          <p:cNvPr id="4" name="Text 2"/>
          <p:cNvSpPr/>
          <p:nvPr/>
        </p:nvSpPr>
        <p:spPr>
          <a:xfrm>
            <a:off x="609585" y="3174405"/>
            <a:ext cx="3139401" cy="10668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Historical traffic data teaches the model how roads behave across conditions and time. As more data arrives, its predictions can improve.</a:t>
            </a:r>
            <a:endParaRPr lang="en-US" sz="1500" dirty="0"/>
          </a:p>
        </p:txBody>
      </p:sp>
      <p:pic>
        <p:nvPicPr>
          <p:cNvPr id="5" name="Image 0" descr="preencoded.png">    </p:cNvPr>
          <p:cNvPicPr>
            <a:picLocks noChangeAspect="1"/>
          </p:cNvPicPr>
          <p:nvPr/>
        </p:nvPicPr>
        <p:blipFill>
          <a:blip r:embed="rId1"/>
          <a:stretch>
            <a:fillRect/>
          </a:stretch>
        </p:blipFill>
        <p:spPr>
          <a:xfrm>
            <a:off x="609585" y="4412655"/>
            <a:ext cx="3139401" cy="123825"/>
          </a:xfrm>
          <a:prstGeom prst="rect">
            <a:avLst/>
          </a:prstGeom>
        </p:spPr>
      </p:pic>
      <p:sp>
        <p:nvSpPr>
          <p:cNvPr id="6" name="Text 3"/>
          <p:cNvSpPr/>
          <p:nvPr/>
        </p:nvSpPr>
        <p:spPr>
          <a:xfrm>
            <a:off x="609585" y="4707930"/>
            <a:ext cx="3139401" cy="61704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The goal is a better estimate of congestion level or travel time before the delay is obvious.</a:t>
            </a:r>
            <a:endParaRPr lang="en-US" sz="1200" dirty="0"/>
          </a:p>
        </p:txBody>
      </p:sp>
      <p:pic>
        <p:nvPicPr>
          <p:cNvPr id="7" name="Image 1" descr="preencoded.png">    </p:cNvPr>
          <p:cNvPicPr>
            <a:picLocks noChangeAspect="1"/>
          </p:cNvPicPr>
          <p:nvPr/>
        </p:nvPicPr>
        <p:blipFill>
          <a:blip r:embed="rId2"/>
          <a:stretch>
            <a:fillRect/>
          </a:stretch>
        </p:blipFill>
        <p:spPr>
          <a:xfrm>
            <a:off x="5272849" y="913110"/>
            <a:ext cx="476238" cy="476250"/>
          </a:xfrm>
          <a:prstGeom prst="rect">
            <a:avLst/>
          </a:prstGeom>
        </p:spPr>
      </p:pic>
      <p:sp>
        <p:nvSpPr>
          <p:cNvPr id="8" name="Text 4"/>
          <p:cNvSpPr/>
          <p:nvPr/>
        </p:nvSpPr>
        <p:spPr>
          <a:xfrm>
            <a:off x="5272849" y="1716385"/>
            <a:ext cx="239260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Past patterns</a:t>
            </a:r>
            <a:endParaRPr lang="en-US" sz="1600" dirty="0"/>
          </a:p>
        </p:txBody>
      </p:sp>
      <p:sp>
        <p:nvSpPr>
          <p:cNvPr id="9" name="Text 5"/>
          <p:cNvSpPr/>
          <p:nvPr/>
        </p:nvSpPr>
        <p:spPr>
          <a:xfrm>
            <a:off x="5272849" y="2096691"/>
            <a:ext cx="3002185"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What usually happens</a:t>
            </a:r>
            <a:endParaRPr lang="en-US" sz="1500" dirty="0"/>
          </a:p>
        </p:txBody>
      </p:sp>
      <p:pic>
        <p:nvPicPr>
          <p:cNvPr id="10" name="Image 2" descr="preencoded.png">    </p:cNvPr>
          <p:cNvPicPr>
            <a:picLocks noChangeAspect="1"/>
          </p:cNvPicPr>
          <p:nvPr/>
        </p:nvPicPr>
        <p:blipFill>
          <a:blip r:embed="rId3"/>
          <a:stretch>
            <a:fillRect/>
          </a:stretch>
        </p:blipFill>
        <p:spPr>
          <a:xfrm>
            <a:off x="9189411" y="913110"/>
            <a:ext cx="476238" cy="476250"/>
          </a:xfrm>
          <a:prstGeom prst="rect">
            <a:avLst/>
          </a:prstGeom>
        </p:spPr>
      </p:pic>
      <p:sp>
        <p:nvSpPr>
          <p:cNvPr id="11" name="Text 6"/>
          <p:cNvSpPr/>
          <p:nvPr/>
        </p:nvSpPr>
        <p:spPr>
          <a:xfrm>
            <a:off x="9189411" y="1716385"/>
            <a:ext cx="239270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New signals</a:t>
            </a:r>
            <a:endParaRPr lang="en-US" sz="1600" dirty="0"/>
          </a:p>
        </p:txBody>
      </p:sp>
      <p:sp>
        <p:nvSpPr>
          <p:cNvPr id="12" name="Text 7"/>
          <p:cNvSpPr/>
          <p:nvPr/>
        </p:nvSpPr>
        <p:spPr>
          <a:xfrm>
            <a:off x="9189411" y="2096691"/>
            <a:ext cx="3002284"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What is happening now</a:t>
            </a:r>
            <a:endParaRPr lang="en-US" sz="1500" dirty="0"/>
          </a:p>
        </p:txBody>
      </p:sp>
      <p:pic>
        <p:nvPicPr>
          <p:cNvPr id="13" name="Image 3" descr="preencoded.png">    </p:cNvPr>
          <p:cNvPicPr>
            <a:picLocks noChangeAspect="1"/>
          </p:cNvPicPr>
          <p:nvPr/>
        </p:nvPicPr>
        <p:blipFill>
          <a:blip r:embed="rId4"/>
          <a:stretch>
            <a:fillRect/>
          </a:stretch>
        </p:blipFill>
        <p:spPr>
          <a:xfrm>
            <a:off x="5272849" y="4494510"/>
            <a:ext cx="476238" cy="476250"/>
          </a:xfrm>
          <a:prstGeom prst="rect">
            <a:avLst/>
          </a:prstGeom>
        </p:spPr>
      </p:pic>
      <p:sp>
        <p:nvSpPr>
          <p:cNvPr id="14" name="Text 8"/>
          <p:cNvSpPr/>
          <p:nvPr/>
        </p:nvSpPr>
        <p:spPr>
          <a:xfrm>
            <a:off x="5272849" y="5297785"/>
            <a:ext cx="239260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Feedback</a:t>
            </a:r>
            <a:endParaRPr lang="en-US" sz="1600" dirty="0"/>
          </a:p>
        </p:txBody>
      </p:sp>
      <p:sp>
        <p:nvSpPr>
          <p:cNvPr id="15" name="Text 9"/>
          <p:cNvSpPr/>
          <p:nvPr/>
        </p:nvSpPr>
        <p:spPr>
          <a:xfrm>
            <a:off x="5272849" y="5678091"/>
            <a:ext cx="3002185"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What the outcome teaches</a:t>
            </a:r>
            <a:endParaRPr lang="en-US" sz="1500" dirty="0"/>
          </a:p>
        </p:txBody>
      </p:sp>
      <p:pic>
        <p:nvPicPr>
          <p:cNvPr id="16" name="Image 4" descr="preencoded.png">    </p:cNvPr>
          <p:cNvPicPr>
            <a:picLocks noChangeAspect="1"/>
          </p:cNvPicPr>
          <p:nvPr/>
        </p:nvPicPr>
        <p:blipFill>
          <a:blip r:embed="rId5"/>
          <a:stretch>
            <a:fillRect/>
          </a:stretch>
        </p:blipFill>
        <p:spPr>
          <a:xfrm>
            <a:off x="9189411" y="4494510"/>
            <a:ext cx="476238" cy="476250"/>
          </a:xfrm>
          <a:prstGeom prst="rect">
            <a:avLst/>
          </a:prstGeom>
        </p:spPr>
      </p:pic>
      <p:sp>
        <p:nvSpPr>
          <p:cNvPr id="17" name="Text 10"/>
          <p:cNvSpPr/>
          <p:nvPr/>
        </p:nvSpPr>
        <p:spPr>
          <a:xfrm>
            <a:off x="9189411" y="5297785"/>
            <a:ext cx="239270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Prediction</a:t>
            </a:r>
            <a:endParaRPr lang="en-US" sz="1600" dirty="0"/>
          </a:p>
        </p:txBody>
      </p:sp>
      <p:sp>
        <p:nvSpPr>
          <p:cNvPr id="18" name="Text 11"/>
          <p:cNvSpPr/>
          <p:nvPr/>
        </p:nvSpPr>
        <p:spPr>
          <a:xfrm>
            <a:off x="9189411" y="5678091"/>
            <a:ext cx="3002284"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What may happen next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ROUTE OPTIMIZATION</a:t>
            </a:r>
            <a:endParaRPr lang="en-US" sz="1100" dirty="0"/>
          </a:p>
        </p:txBody>
      </p:sp>
      <p:sp>
        <p:nvSpPr>
          <p:cNvPr id="3" name="Text 1"/>
          <p:cNvSpPr/>
          <p:nvPr/>
        </p:nvSpPr>
        <p:spPr>
          <a:xfrm>
            <a:off x="609585" y="860425"/>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Choose the fastest reliable route, not just the shortest</a:t>
            </a:r>
            <a:endParaRPr lang="en-US" sz="3000" dirty="0"/>
          </a:p>
        </p:txBody>
      </p:sp>
      <p:sp>
        <p:nvSpPr>
          <p:cNvPr id="4" name="Shape 2"/>
          <p:cNvSpPr/>
          <p:nvPr/>
        </p:nvSpPr>
        <p:spPr>
          <a:xfrm>
            <a:off x="609585" y="1450975"/>
            <a:ext cx="5333867" cy="1165225"/>
          </a:xfrm>
          <a:prstGeom prst="roundRect">
            <a:avLst>
              <a:gd name="adj" fmla="val 18310"/>
            </a:avLst>
          </a:prstGeom>
          <a:solidFill>
            <a:srgbClr val="FFFFFF"/>
          </a:solidFill>
          <a:ln/>
          <a:effectLst>
            <a:outerShdw sx="100000" sy="100000" kx="0" ky="0" algn="bl" rotWithShape="0" blurRad="127" dist="62230" dir="5400000">
              <a:srgbClr val="3fc89a">
                <a:alpha val="100000"/>
              </a:srgbClr>
            </a:outerShdw>
          </a:effectLst>
        </p:spPr>
      </p:sp>
      <p:sp>
        <p:nvSpPr>
          <p:cNvPr id="5" name="Text 3"/>
          <p:cNvSpPr/>
          <p:nvPr/>
        </p:nvSpPr>
        <p:spPr>
          <a:xfrm>
            <a:off x="838179" y="1679575"/>
            <a:ext cx="4876678" cy="304800"/>
          </a:xfrm>
          <a:prstGeom prst="rect">
            <a:avLst/>
          </a:prstGeom>
          <a:noFill/>
          <a:ln/>
        </p:spPr>
        <p:txBody>
          <a:bodyPr wrap="none" lIns="0" tIns="0" rIns="0" bIns="0" rtlCol="0" anchor="t"/>
          <a:lstStyle/>
          <a:p>
            <a:pPr algn="l" indent="0" marL="0">
              <a:lnSpc>
                <a:spcPct val="100000"/>
              </a:lnSpc>
              <a:buNone/>
            </a:pPr>
            <a:r>
              <a:rPr lang="en-US" sz="2000" dirty="0">
                <a:solidFill>
                  <a:srgbClr val="000000"/>
                </a:solidFill>
                <a:latin typeface="Urbanist SemiBold" pitchFamily="34" charset="0"/>
                <a:ea typeface="Urbanist SemiBold" pitchFamily="34" charset="-122"/>
                <a:cs typeface="Urbanist SemiBold" pitchFamily="34" charset="-120"/>
              </a:rPr>
              <a:t>Predicted fastest reliable option</a:t>
            </a:r>
            <a:endParaRPr lang="en-US" sz="2000" dirty="0"/>
          </a:p>
        </p:txBody>
      </p:sp>
      <p:sp>
        <p:nvSpPr>
          <p:cNvPr id="6" name="Text 4"/>
          <p:cNvSpPr/>
          <p:nvPr/>
        </p:nvSpPr>
        <p:spPr>
          <a:xfrm>
            <a:off x="838179" y="2120900"/>
            <a:ext cx="5105272" cy="266700"/>
          </a:xfrm>
          <a:prstGeom prst="rect">
            <a:avLst/>
          </a:prstGeom>
          <a:noFill/>
          <a:ln/>
        </p:spPr>
        <p:txBody>
          <a:bodyPr wrap="none" lIns="0" tIns="0" rIns="0" bIns="0" rtlCol="0" anchor="t"/>
          <a:lstStyle/>
          <a:p>
            <a:pPr algn="l" indent="0" marL="0">
              <a:lnSpc>
                <a:spcPct val="117000"/>
              </a:lnSpc>
              <a:buNone/>
            </a:pPr>
            <a:r>
              <a:rPr lang="en-US" sz="1500" dirty="0">
                <a:solidFill>
                  <a:srgbClr val="000000"/>
                </a:solidFill>
                <a:latin typeface="Figtree" pitchFamily="34" charset="0"/>
                <a:ea typeface="Figtree" pitchFamily="34" charset="-122"/>
                <a:cs typeface="Figtree" pitchFamily="34" charset="-120"/>
              </a:rPr>
              <a:t>Ambulance → reliable route → Hospital</a:t>
            </a:r>
            <a:endParaRPr lang="en-US" sz="1500" dirty="0"/>
          </a:p>
        </p:txBody>
      </p:sp>
      <p:sp>
        <p:nvSpPr>
          <p:cNvPr id="7" name="Shape 5"/>
          <p:cNvSpPr/>
          <p:nvPr/>
        </p:nvSpPr>
        <p:spPr>
          <a:xfrm>
            <a:off x="6248244" y="1450975"/>
            <a:ext cx="5333867" cy="1165225"/>
          </a:xfrm>
          <a:prstGeom prst="roundRect">
            <a:avLst>
              <a:gd name="adj" fmla="val 18310"/>
            </a:avLst>
          </a:prstGeom>
          <a:solidFill>
            <a:srgbClr val="FFFFFF"/>
          </a:solidFill>
          <a:ln/>
          <a:effectLst>
            <a:outerShdw sx="100000" sy="100000" kx="0" ky="0" algn="bl" rotWithShape="0" blurRad="127" dist="62230" dir="5400000">
              <a:srgbClr val="ff8a3d">
                <a:alpha val="100000"/>
              </a:srgbClr>
            </a:outerShdw>
          </a:effectLst>
        </p:spPr>
      </p:sp>
      <p:sp>
        <p:nvSpPr>
          <p:cNvPr id="8" name="Text 6"/>
          <p:cNvSpPr/>
          <p:nvPr/>
        </p:nvSpPr>
        <p:spPr>
          <a:xfrm>
            <a:off x="6476838" y="1679575"/>
            <a:ext cx="4876678" cy="304800"/>
          </a:xfrm>
          <a:prstGeom prst="rect">
            <a:avLst/>
          </a:prstGeom>
          <a:noFill/>
          <a:ln/>
        </p:spPr>
        <p:txBody>
          <a:bodyPr wrap="none" lIns="0" tIns="0" rIns="0" bIns="0" rtlCol="0" anchor="t"/>
          <a:lstStyle/>
          <a:p>
            <a:pPr algn="l" indent="0" marL="0">
              <a:lnSpc>
                <a:spcPct val="100000"/>
              </a:lnSpc>
              <a:buNone/>
            </a:pPr>
            <a:r>
              <a:rPr lang="en-US" sz="2000" dirty="0">
                <a:solidFill>
                  <a:srgbClr val="000000"/>
                </a:solidFill>
                <a:latin typeface="Urbanist SemiBold" pitchFamily="34" charset="0"/>
                <a:ea typeface="Urbanist SemiBold" pitchFamily="34" charset="-122"/>
                <a:cs typeface="Urbanist SemiBold" pitchFamily="34" charset="-120"/>
              </a:rPr>
              <a:t>Shorter on the map</a:t>
            </a:r>
            <a:endParaRPr lang="en-US" sz="2000" dirty="0"/>
          </a:p>
        </p:txBody>
      </p:sp>
      <p:sp>
        <p:nvSpPr>
          <p:cNvPr id="9" name="Text 7"/>
          <p:cNvSpPr/>
          <p:nvPr/>
        </p:nvSpPr>
        <p:spPr>
          <a:xfrm>
            <a:off x="6476838" y="2120900"/>
            <a:ext cx="5105272" cy="266700"/>
          </a:xfrm>
          <a:prstGeom prst="rect">
            <a:avLst/>
          </a:prstGeom>
          <a:noFill/>
          <a:ln/>
        </p:spPr>
        <p:txBody>
          <a:bodyPr wrap="none" lIns="0" tIns="0" rIns="0" bIns="0" rtlCol="0" anchor="t"/>
          <a:lstStyle/>
          <a:p>
            <a:pPr algn="l" indent="0" marL="0">
              <a:lnSpc>
                <a:spcPct val="117000"/>
              </a:lnSpc>
              <a:buNone/>
            </a:pPr>
            <a:r>
              <a:rPr lang="en-US" sz="1500" dirty="0">
                <a:solidFill>
                  <a:srgbClr val="000000"/>
                </a:solidFill>
                <a:latin typeface="Figtree" pitchFamily="34" charset="0"/>
                <a:ea typeface="Figtree" pitchFamily="34" charset="-122"/>
                <a:cs typeface="Figtree" pitchFamily="34" charset="-120"/>
              </a:rPr>
              <a:t>Ambulance → shorter route → Hospital</a:t>
            </a:r>
            <a:endParaRPr lang="en-US" sz="1500" dirty="0"/>
          </a:p>
        </p:txBody>
      </p:sp>
      <p:sp>
        <p:nvSpPr>
          <p:cNvPr id="10" name="Text 8"/>
          <p:cNvSpPr/>
          <p:nvPr/>
        </p:nvSpPr>
        <p:spPr>
          <a:xfrm>
            <a:off x="609585" y="2787650"/>
            <a:ext cx="3454314"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Locate</a:t>
            </a:r>
            <a:endParaRPr lang="en-US" sz="1600" dirty="0"/>
          </a:p>
        </p:txBody>
      </p:sp>
      <p:sp>
        <p:nvSpPr>
          <p:cNvPr id="11" name="Text 9"/>
          <p:cNvSpPr/>
          <p:nvPr/>
        </p:nvSpPr>
        <p:spPr>
          <a:xfrm>
            <a:off x="609585" y="3167955"/>
            <a:ext cx="3454314"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Ambulance + hospital</a:t>
            </a:r>
            <a:endParaRPr lang="en-US" sz="1500" dirty="0"/>
          </a:p>
        </p:txBody>
      </p:sp>
      <p:sp>
        <p:nvSpPr>
          <p:cNvPr id="12" name="Text 10"/>
          <p:cNvSpPr/>
          <p:nvPr/>
        </p:nvSpPr>
        <p:spPr>
          <a:xfrm>
            <a:off x="4368691" y="2787650"/>
            <a:ext cx="3454314"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Compare</a:t>
            </a:r>
            <a:endParaRPr lang="en-US" sz="1600" dirty="0"/>
          </a:p>
        </p:txBody>
      </p:sp>
      <p:sp>
        <p:nvSpPr>
          <p:cNvPr id="13" name="Text 11"/>
          <p:cNvSpPr/>
          <p:nvPr/>
        </p:nvSpPr>
        <p:spPr>
          <a:xfrm>
            <a:off x="4368691" y="3167955"/>
            <a:ext cx="3454314"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Generate alternatives; predict each travel time; select the best option.</a:t>
            </a:r>
            <a:endParaRPr lang="en-US" sz="1500" dirty="0"/>
          </a:p>
        </p:txBody>
      </p:sp>
      <p:sp>
        <p:nvSpPr>
          <p:cNvPr id="14" name="Text 12"/>
          <p:cNvSpPr/>
          <p:nvPr/>
        </p:nvSpPr>
        <p:spPr>
          <a:xfrm>
            <a:off x="8127797" y="2787650"/>
            <a:ext cx="3454314"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Recalculate</a:t>
            </a:r>
            <a:endParaRPr lang="en-US" sz="1600" dirty="0"/>
          </a:p>
        </p:txBody>
      </p:sp>
      <p:sp>
        <p:nvSpPr>
          <p:cNvPr id="15" name="Text 13"/>
          <p:cNvSpPr/>
          <p:nvPr/>
        </p:nvSpPr>
        <p:spPr>
          <a:xfrm>
            <a:off x="8127797" y="3167955"/>
            <a:ext cx="3454314"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Update when conditions change.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EARLY WARNING</a:t>
            </a:r>
            <a:endParaRPr lang="en-US" sz="1100" dirty="0"/>
          </a:p>
        </p:txBody>
      </p:sp>
      <p:sp>
        <p:nvSpPr>
          <p:cNvPr id="3" name="Text 1"/>
          <p:cNvSpPr/>
          <p:nvPr/>
        </p:nvSpPr>
        <p:spPr>
          <a:xfrm>
            <a:off x="609585" y="860425"/>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A blockage becomes visible before it becomes a delay</a:t>
            </a:r>
            <a:endParaRPr lang="en-US" sz="3000" dirty="0"/>
          </a:p>
        </p:txBody>
      </p:sp>
      <p:sp>
        <p:nvSpPr>
          <p:cNvPr id="4" name="Text 2"/>
          <p:cNvSpPr/>
          <p:nvPr/>
        </p:nvSpPr>
        <p:spPr>
          <a:xfrm>
            <a:off x="609585" y="1450975"/>
            <a:ext cx="11582110"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Several weak signals can become one strong reason to reroute.</a:t>
            </a:r>
            <a:endParaRPr lang="en-US" sz="1500" dirty="0"/>
          </a:p>
        </p:txBody>
      </p:sp>
      <p:sp>
        <p:nvSpPr>
          <p:cNvPr id="5" name="Shape 3"/>
          <p:cNvSpPr/>
          <p:nvPr/>
        </p:nvSpPr>
        <p:spPr>
          <a:xfrm>
            <a:off x="609585" y="1889125"/>
            <a:ext cx="3505112" cy="2027238"/>
          </a:xfrm>
          <a:prstGeom prst="rect">
            <a:avLst/>
          </a:prstGeom>
          <a:solidFill>
            <a:srgbClr val="FFFFFF"/>
          </a:solidFill>
          <a:ln/>
        </p:spPr>
      </p:sp>
      <p:sp>
        <p:nvSpPr>
          <p:cNvPr id="6" name="Text 4"/>
          <p:cNvSpPr/>
          <p:nvPr/>
        </p:nvSpPr>
        <p:spPr>
          <a:xfrm>
            <a:off x="838179" y="2117725"/>
            <a:ext cx="3047924"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Vehicle speeds fall</a:t>
            </a:r>
            <a:endParaRPr lang="en-US" sz="2000" dirty="0"/>
          </a:p>
        </p:txBody>
      </p:sp>
      <p:sp>
        <p:nvSpPr>
          <p:cNvPr id="7" name="Text 5"/>
          <p:cNvSpPr/>
          <p:nvPr/>
        </p:nvSpPr>
        <p:spPr>
          <a:xfrm>
            <a:off x="838179" y="2559050"/>
            <a:ext cx="3047924"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Slowing traffic signals a developing blockage.</a:t>
            </a:r>
            <a:endParaRPr lang="en-US" sz="1500" dirty="0"/>
          </a:p>
        </p:txBody>
      </p:sp>
      <p:sp>
        <p:nvSpPr>
          <p:cNvPr id="8" name="Shape 6"/>
          <p:cNvSpPr/>
          <p:nvPr/>
        </p:nvSpPr>
        <p:spPr>
          <a:xfrm>
            <a:off x="4419489" y="1889125"/>
            <a:ext cx="3352716" cy="2027238"/>
          </a:xfrm>
          <a:prstGeom prst="rect">
            <a:avLst/>
          </a:prstGeom>
          <a:solidFill>
            <a:srgbClr val="FFFFFF"/>
          </a:solidFill>
          <a:ln/>
        </p:spPr>
      </p:sp>
      <p:sp>
        <p:nvSpPr>
          <p:cNvPr id="9" name="Text 7"/>
          <p:cNvSpPr/>
          <p:nvPr/>
        </p:nvSpPr>
        <p:spPr>
          <a:xfrm>
            <a:off x="4648084" y="2117725"/>
            <a:ext cx="2895528"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GPS movement slows</a:t>
            </a:r>
            <a:endParaRPr lang="en-US" sz="2000" dirty="0"/>
          </a:p>
        </p:txBody>
      </p:sp>
      <p:sp>
        <p:nvSpPr>
          <p:cNvPr id="10" name="Text 8"/>
          <p:cNvSpPr/>
          <p:nvPr/>
        </p:nvSpPr>
        <p:spPr>
          <a:xfrm>
            <a:off x="4648084" y="2559050"/>
            <a:ext cx="2895528"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Vehicle location data confirms the slowdown.</a:t>
            </a:r>
            <a:endParaRPr lang="en-US" sz="1500" dirty="0"/>
          </a:p>
        </p:txBody>
      </p:sp>
      <p:sp>
        <p:nvSpPr>
          <p:cNvPr id="11" name="Shape 9"/>
          <p:cNvSpPr/>
          <p:nvPr/>
        </p:nvSpPr>
        <p:spPr>
          <a:xfrm>
            <a:off x="8076998" y="1889125"/>
            <a:ext cx="3505112" cy="2027238"/>
          </a:xfrm>
          <a:prstGeom prst="rect">
            <a:avLst/>
          </a:prstGeom>
          <a:solidFill>
            <a:srgbClr val="FFFFFF"/>
          </a:solidFill>
          <a:ln/>
        </p:spPr>
      </p:sp>
      <p:sp>
        <p:nvSpPr>
          <p:cNvPr id="12" name="Text 10"/>
          <p:cNvSpPr/>
          <p:nvPr/>
        </p:nvSpPr>
        <p:spPr>
          <a:xfrm>
            <a:off x="8305592" y="2117725"/>
            <a:ext cx="3047924"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Traffic density rises</a:t>
            </a:r>
            <a:endParaRPr lang="en-US" sz="2000" dirty="0"/>
          </a:p>
        </p:txBody>
      </p:sp>
      <p:sp>
        <p:nvSpPr>
          <p:cNvPr id="13" name="Text 11"/>
          <p:cNvSpPr/>
          <p:nvPr/>
        </p:nvSpPr>
        <p:spPr>
          <a:xfrm>
            <a:off x="8305592" y="2559050"/>
            <a:ext cx="3047924"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More vehicles add evidence of a delay.</a:t>
            </a:r>
            <a:endParaRPr lang="en-US" sz="1500" dirty="0"/>
          </a:p>
        </p:txBody>
      </p:sp>
      <p:sp>
        <p:nvSpPr>
          <p:cNvPr id="14" name="Shape 12"/>
          <p:cNvSpPr/>
          <p:nvPr/>
        </p:nvSpPr>
        <p:spPr>
          <a:xfrm>
            <a:off x="609585" y="4221163"/>
            <a:ext cx="3505112" cy="2027238"/>
          </a:xfrm>
          <a:prstGeom prst="rect">
            <a:avLst/>
          </a:prstGeom>
          <a:solidFill>
            <a:srgbClr val="FFFFFF"/>
          </a:solidFill>
          <a:ln/>
        </p:spPr>
      </p:sp>
      <p:sp>
        <p:nvSpPr>
          <p:cNvPr id="15" name="Text 13"/>
          <p:cNvSpPr/>
          <p:nvPr/>
        </p:nvSpPr>
        <p:spPr>
          <a:xfrm>
            <a:off x="838179" y="4449762"/>
            <a:ext cx="3047924"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Camera or sensor alert</a:t>
            </a:r>
            <a:endParaRPr lang="en-US" sz="2000" dirty="0"/>
          </a:p>
        </p:txBody>
      </p:sp>
      <p:sp>
        <p:nvSpPr>
          <p:cNvPr id="16" name="Text 14"/>
          <p:cNvSpPr/>
          <p:nvPr/>
        </p:nvSpPr>
        <p:spPr>
          <a:xfrm>
            <a:off x="838179" y="4891088"/>
            <a:ext cx="3276518"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Live detection adds another signal.</a:t>
            </a:r>
            <a:endParaRPr lang="en-US" sz="1500" dirty="0"/>
          </a:p>
        </p:txBody>
      </p:sp>
      <p:sp>
        <p:nvSpPr>
          <p:cNvPr id="17" name="Shape 15"/>
          <p:cNvSpPr/>
          <p:nvPr/>
        </p:nvSpPr>
        <p:spPr>
          <a:xfrm>
            <a:off x="4419489" y="4221163"/>
            <a:ext cx="3352716" cy="2027238"/>
          </a:xfrm>
          <a:prstGeom prst="rect">
            <a:avLst/>
          </a:prstGeom>
          <a:solidFill>
            <a:srgbClr val="FFFFFF"/>
          </a:solidFill>
          <a:ln/>
        </p:spPr>
      </p:sp>
      <p:sp>
        <p:nvSpPr>
          <p:cNvPr id="18" name="Text 16"/>
          <p:cNvSpPr/>
          <p:nvPr/>
        </p:nvSpPr>
        <p:spPr>
          <a:xfrm>
            <a:off x="4648084" y="4449762"/>
            <a:ext cx="2895528" cy="609600"/>
          </a:xfrm>
          <a:prstGeom prst="rect">
            <a:avLst/>
          </a:prstGeom>
          <a:noFill/>
          <a:ln/>
        </p:spPr>
        <p:txBody>
          <a:bodyPr wrap="square" lIns="0" tIns="0" rIns="0" bIns="0" rtlCol="0" anchor="t">
            <a:normAutofit/>
          </a:bodyPr>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Incident or construction report</a:t>
            </a:r>
            <a:endParaRPr lang="en-US" sz="2000" dirty="0"/>
          </a:p>
        </p:txBody>
      </p:sp>
      <p:sp>
        <p:nvSpPr>
          <p:cNvPr id="19" name="Text 17"/>
          <p:cNvSpPr/>
          <p:nvPr/>
        </p:nvSpPr>
        <p:spPr>
          <a:xfrm>
            <a:off x="4648084" y="5195888"/>
            <a:ext cx="2895528"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Reports explain what may be blocking the route.</a:t>
            </a:r>
            <a:endParaRPr lang="en-US" sz="1500" dirty="0"/>
          </a:p>
        </p:txBody>
      </p:sp>
      <p:sp>
        <p:nvSpPr>
          <p:cNvPr id="20" name="Shape 18"/>
          <p:cNvSpPr/>
          <p:nvPr/>
        </p:nvSpPr>
        <p:spPr>
          <a:xfrm>
            <a:off x="8076998" y="4221163"/>
            <a:ext cx="3505112" cy="2027238"/>
          </a:xfrm>
          <a:prstGeom prst="rect">
            <a:avLst/>
          </a:prstGeom>
          <a:solidFill>
            <a:srgbClr val="1E2A44"/>
          </a:solidFill>
          <a:ln/>
        </p:spPr>
      </p:sp>
      <p:sp>
        <p:nvSpPr>
          <p:cNvPr id="21" name="Text 19"/>
          <p:cNvSpPr/>
          <p:nvPr/>
        </p:nvSpPr>
        <p:spPr>
          <a:xfrm>
            <a:off x="8305592" y="4449762"/>
            <a:ext cx="3047924" cy="304800"/>
          </a:xfrm>
          <a:prstGeom prst="rect">
            <a:avLst/>
          </a:prstGeom>
          <a:noFill/>
          <a:ln/>
        </p:spPr>
        <p:txBody>
          <a:bodyPr wrap="none" lIns="0" tIns="0" rIns="0" bIns="0" rtlCol="0" anchor="t"/>
          <a:lstStyle/>
          <a:p>
            <a:pPr algn="l" indent="0" marL="0">
              <a:lnSpc>
                <a:spcPct val="100000"/>
              </a:lnSpc>
              <a:buNone/>
            </a:pPr>
            <a:r>
              <a:rPr lang="en-US" sz="2000" dirty="0">
                <a:solidFill>
                  <a:srgbClr val="FFFFFF"/>
                </a:solidFill>
                <a:latin typeface="Urbanist SemiBold" pitchFamily="34" charset="0"/>
                <a:ea typeface="Urbanist SemiBold" pitchFamily="34" charset="-122"/>
                <a:cs typeface="Urbanist SemiBold" pitchFamily="34" charset="-120"/>
              </a:rPr>
              <a:t>Reroute triggered</a:t>
            </a:r>
            <a:endParaRPr lang="en-US" sz="2000" dirty="0"/>
          </a:p>
        </p:txBody>
      </p:sp>
      <p:sp>
        <p:nvSpPr>
          <p:cNvPr id="22" name="Text 20"/>
          <p:cNvSpPr/>
          <p:nvPr/>
        </p:nvSpPr>
        <p:spPr>
          <a:xfrm>
            <a:off x="8305592" y="4891088"/>
            <a:ext cx="3047924" cy="8001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Figtree" pitchFamily="34" charset="0"/>
                <a:ea typeface="Figtree" pitchFamily="34" charset="-122"/>
                <a:cs typeface="Figtree" pitchFamily="34" charset="-120"/>
              </a:rPr>
              <a:t>Weather and incident reports add context before the route visibly stops.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SYSTEM ARCHITECTURE</a:t>
            </a:r>
            <a:endParaRPr lang="en-US" sz="1100" dirty="0"/>
          </a:p>
        </p:txBody>
      </p:sp>
      <p:sp>
        <p:nvSpPr>
          <p:cNvPr id="3" name="Text 1"/>
          <p:cNvSpPr/>
          <p:nvPr/>
        </p:nvSpPr>
        <p:spPr>
          <a:xfrm>
            <a:off x="609585" y="860425"/>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A connected architecture turns data into action</a:t>
            </a:r>
            <a:endParaRPr lang="en-US" sz="3000" dirty="0"/>
          </a:p>
        </p:txBody>
      </p:sp>
      <p:sp>
        <p:nvSpPr>
          <p:cNvPr id="4" name="Shape 2"/>
          <p:cNvSpPr/>
          <p:nvPr/>
        </p:nvSpPr>
        <p:spPr>
          <a:xfrm>
            <a:off x="609585" y="1450975"/>
            <a:ext cx="2590735" cy="1946672"/>
          </a:xfrm>
          <a:prstGeom prst="roundRect">
            <a:avLst>
              <a:gd name="adj" fmla="val 10960"/>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838179" y="1679575"/>
            <a:ext cx="380990" cy="381000"/>
          </a:xfrm>
          <a:prstGeom prst="rect">
            <a:avLst/>
          </a:prstGeom>
        </p:spPr>
      </p:pic>
      <p:sp>
        <p:nvSpPr>
          <p:cNvPr id="6" name="Text 3"/>
          <p:cNvSpPr/>
          <p:nvPr/>
        </p:nvSpPr>
        <p:spPr>
          <a:xfrm>
            <a:off x="838179" y="2171700"/>
            <a:ext cx="2133547"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Data sources</a:t>
            </a:r>
            <a:endParaRPr lang="en-US" sz="1600" dirty="0"/>
          </a:p>
        </p:txBody>
      </p:sp>
      <p:sp>
        <p:nvSpPr>
          <p:cNvPr id="7" name="Text 4"/>
          <p:cNvSpPr/>
          <p:nvPr/>
        </p:nvSpPr>
        <p:spPr>
          <a:xfrm>
            <a:off x="838179" y="2552005"/>
            <a:ext cx="2133547" cy="61704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GPS · sensors · maps · incidents · weather · vehicle reports</a:t>
            </a:r>
            <a:endParaRPr lang="en-US" sz="1200" dirty="0"/>
          </a:p>
        </p:txBody>
      </p:sp>
      <p:sp>
        <p:nvSpPr>
          <p:cNvPr id="8" name="Shape 5"/>
          <p:cNvSpPr/>
          <p:nvPr/>
        </p:nvSpPr>
        <p:spPr>
          <a:xfrm>
            <a:off x="3505112" y="1450975"/>
            <a:ext cx="2438339" cy="1946672"/>
          </a:xfrm>
          <a:prstGeom prst="roundRect">
            <a:avLst>
              <a:gd name="adj" fmla="val 10960"/>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3733707" y="1679575"/>
            <a:ext cx="380990" cy="381000"/>
          </a:xfrm>
          <a:prstGeom prst="rect">
            <a:avLst/>
          </a:prstGeom>
        </p:spPr>
      </p:pic>
      <p:sp>
        <p:nvSpPr>
          <p:cNvPr id="10" name="Text 6"/>
          <p:cNvSpPr/>
          <p:nvPr/>
        </p:nvSpPr>
        <p:spPr>
          <a:xfrm>
            <a:off x="3733707" y="2171700"/>
            <a:ext cx="1981150"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Collection</a:t>
            </a:r>
            <a:endParaRPr lang="en-US" sz="1600" dirty="0"/>
          </a:p>
        </p:txBody>
      </p:sp>
      <p:sp>
        <p:nvSpPr>
          <p:cNvPr id="11" name="Text 7"/>
          <p:cNvSpPr/>
          <p:nvPr/>
        </p:nvSpPr>
        <p:spPr>
          <a:xfrm>
            <a:off x="3733707" y="2552005"/>
            <a:ext cx="1981150"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Bring signals together in real time.</a:t>
            </a:r>
            <a:endParaRPr lang="en-US" sz="1200" dirty="0"/>
          </a:p>
        </p:txBody>
      </p:sp>
      <p:sp>
        <p:nvSpPr>
          <p:cNvPr id="12" name="Shape 8"/>
          <p:cNvSpPr/>
          <p:nvPr/>
        </p:nvSpPr>
        <p:spPr>
          <a:xfrm>
            <a:off x="6248244" y="1450975"/>
            <a:ext cx="2514537" cy="1946672"/>
          </a:xfrm>
          <a:prstGeom prst="roundRect">
            <a:avLst>
              <a:gd name="adj" fmla="val 10960"/>
            </a:avLst>
          </a:prstGeom>
          <a:solidFill>
            <a:srgbClr val="FFFFFF"/>
          </a:solidFill>
          <a:ln/>
        </p:spPr>
      </p:sp>
      <p:pic>
        <p:nvPicPr>
          <p:cNvPr id="13" name="Image 2" descr="preencoded.png">    </p:cNvPr>
          <p:cNvPicPr>
            <a:picLocks noChangeAspect="1"/>
          </p:cNvPicPr>
          <p:nvPr/>
        </p:nvPicPr>
        <p:blipFill>
          <a:blip r:embed="rId3"/>
          <a:stretch>
            <a:fillRect/>
          </a:stretch>
        </p:blipFill>
        <p:spPr>
          <a:xfrm>
            <a:off x="6476838" y="1679575"/>
            <a:ext cx="380990" cy="381000"/>
          </a:xfrm>
          <a:prstGeom prst="rect">
            <a:avLst/>
          </a:prstGeom>
        </p:spPr>
      </p:pic>
      <p:sp>
        <p:nvSpPr>
          <p:cNvPr id="14" name="Text 9"/>
          <p:cNvSpPr/>
          <p:nvPr/>
        </p:nvSpPr>
        <p:spPr>
          <a:xfrm>
            <a:off x="6476838" y="2171700"/>
            <a:ext cx="2057349"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Processing</a:t>
            </a:r>
            <a:endParaRPr lang="en-US" sz="1600" dirty="0"/>
          </a:p>
        </p:txBody>
      </p:sp>
      <p:sp>
        <p:nvSpPr>
          <p:cNvPr id="15" name="Text 10"/>
          <p:cNvSpPr/>
          <p:nvPr/>
        </p:nvSpPr>
        <p:spPr>
          <a:xfrm>
            <a:off x="6476838" y="2552005"/>
            <a:ext cx="2057349"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Clean, align, and prepare the road picture.</a:t>
            </a:r>
            <a:endParaRPr lang="en-US" sz="1200" dirty="0"/>
          </a:p>
        </p:txBody>
      </p:sp>
      <p:sp>
        <p:nvSpPr>
          <p:cNvPr id="16" name="Shape 11"/>
          <p:cNvSpPr/>
          <p:nvPr/>
        </p:nvSpPr>
        <p:spPr>
          <a:xfrm>
            <a:off x="9067573" y="1450975"/>
            <a:ext cx="2514537" cy="1946672"/>
          </a:xfrm>
          <a:prstGeom prst="roundRect">
            <a:avLst>
              <a:gd name="adj" fmla="val 10960"/>
            </a:avLst>
          </a:prstGeom>
          <a:solidFill>
            <a:srgbClr val="FFFFFF"/>
          </a:solidFill>
          <a:ln/>
        </p:spPr>
      </p:sp>
      <p:pic>
        <p:nvPicPr>
          <p:cNvPr id="17" name="Image 3" descr="preencoded.png">    </p:cNvPr>
          <p:cNvPicPr>
            <a:picLocks noChangeAspect="1"/>
          </p:cNvPicPr>
          <p:nvPr/>
        </p:nvPicPr>
        <p:blipFill>
          <a:blip r:embed="rId4"/>
          <a:stretch>
            <a:fillRect/>
          </a:stretch>
        </p:blipFill>
        <p:spPr>
          <a:xfrm>
            <a:off x="9296167" y="1679575"/>
            <a:ext cx="380990" cy="381000"/>
          </a:xfrm>
          <a:prstGeom prst="rect">
            <a:avLst/>
          </a:prstGeom>
        </p:spPr>
      </p:pic>
      <p:sp>
        <p:nvSpPr>
          <p:cNvPr id="18" name="Text 12"/>
          <p:cNvSpPr/>
          <p:nvPr/>
        </p:nvSpPr>
        <p:spPr>
          <a:xfrm>
            <a:off x="9296167" y="2171700"/>
            <a:ext cx="2057349"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AI prediction</a:t>
            </a:r>
            <a:endParaRPr lang="en-US" sz="1600" dirty="0"/>
          </a:p>
        </p:txBody>
      </p:sp>
      <p:sp>
        <p:nvSpPr>
          <p:cNvPr id="19" name="Text 13"/>
          <p:cNvSpPr/>
          <p:nvPr/>
        </p:nvSpPr>
        <p:spPr>
          <a:xfrm>
            <a:off x="9296167" y="2552005"/>
            <a:ext cx="2057349"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Estimate blockage risk and travel time.</a:t>
            </a:r>
            <a:endParaRPr lang="en-US" sz="1200" dirty="0"/>
          </a:p>
        </p:txBody>
      </p:sp>
      <p:sp>
        <p:nvSpPr>
          <p:cNvPr id="20" name="Shape 14"/>
          <p:cNvSpPr/>
          <p:nvPr/>
        </p:nvSpPr>
        <p:spPr>
          <a:xfrm>
            <a:off x="609585" y="3702447"/>
            <a:ext cx="2590735" cy="1946672"/>
          </a:xfrm>
          <a:prstGeom prst="roundRect">
            <a:avLst>
              <a:gd name="adj" fmla="val 10960"/>
            </a:avLst>
          </a:prstGeom>
          <a:solidFill>
            <a:srgbClr val="FFFFFF"/>
          </a:solidFill>
          <a:ln/>
        </p:spPr>
      </p:sp>
      <p:pic>
        <p:nvPicPr>
          <p:cNvPr id="21" name="Image 4" descr="preencoded.png">    </p:cNvPr>
          <p:cNvPicPr>
            <a:picLocks noChangeAspect="1"/>
          </p:cNvPicPr>
          <p:nvPr/>
        </p:nvPicPr>
        <p:blipFill>
          <a:blip r:embed="rId5"/>
          <a:stretch>
            <a:fillRect/>
          </a:stretch>
        </p:blipFill>
        <p:spPr>
          <a:xfrm>
            <a:off x="838179" y="3931047"/>
            <a:ext cx="380990" cy="381000"/>
          </a:xfrm>
          <a:prstGeom prst="rect">
            <a:avLst/>
          </a:prstGeom>
        </p:spPr>
      </p:pic>
      <p:sp>
        <p:nvSpPr>
          <p:cNvPr id="22" name="Text 15"/>
          <p:cNvSpPr/>
          <p:nvPr/>
        </p:nvSpPr>
        <p:spPr>
          <a:xfrm>
            <a:off x="838179" y="4423172"/>
            <a:ext cx="2133547"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Route optimization</a:t>
            </a:r>
            <a:endParaRPr lang="en-US" sz="1600" dirty="0"/>
          </a:p>
        </p:txBody>
      </p:sp>
      <p:sp>
        <p:nvSpPr>
          <p:cNvPr id="23" name="Text 16"/>
          <p:cNvSpPr/>
          <p:nvPr/>
        </p:nvSpPr>
        <p:spPr>
          <a:xfrm>
            <a:off x="838179" y="4803477"/>
            <a:ext cx="2133547" cy="411361"/>
          </a:xfrm>
          <a:prstGeom prst="rect">
            <a:avLst/>
          </a:prstGeom>
          <a:noFill/>
          <a:ln/>
        </p:spPr>
        <p:txBody>
          <a:bodyPr wrap="square" lIns="0" tIns="0" rIns="0" bIns="0" rtlCol="0" anchor="t">
            <a:normAutofit/>
          </a:bodyPr>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Choose the fastest reliable alternative.</a:t>
            </a:r>
            <a:endParaRPr lang="en-US" sz="1200" dirty="0"/>
          </a:p>
        </p:txBody>
      </p:sp>
      <p:sp>
        <p:nvSpPr>
          <p:cNvPr id="24" name="Shape 17"/>
          <p:cNvSpPr/>
          <p:nvPr/>
        </p:nvSpPr>
        <p:spPr>
          <a:xfrm>
            <a:off x="3505112" y="3702447"/>
            <a:ext cx="8076998" cy="1946672"/>
          </a:xfrm>
          <a:prstGeom prst="roundRect">
            <a:avLst>
              <a:gd name="adj" fmla="val 10960"/>
            </a:avLst>
          </a:prstGeom>
          <a:solidFill>
            <a:srgbClr val="FFFFFF"/>
          </a:solidFill>
          <a:ln/>
        </p:spPr>
      </p:sp>
      <p:pic>
        <p:nvPicPr>
          <p:cNvPr id="25" name="Image 5" descr="preencoded.png">    </p:cNvPr>
          <p:cNvPicPr>
            <a:picLocks noChangeAspect="1"/>
          </p:cNvPicPr>
          <p:nvPr/>
        </p:nvPicPr>
        <p:blipFill>
          <a:blip r:embed="rId6"/>
          <a:stretch>
            <a:fillRect/>
          </a:stretch>
        </p:blipFill>
        <p:spPr>
          <a:xfrm>
            <a:off x="3733707" y="3931047"/>
            <a:ext cx="380990" cy="381000"/>
          </a:xfrm>
          <a:prstGeom prst="rect">
            <a:avLst/>
          </a:prstGeom>
        </p:spPr>
      </p:pic>
      <p:sp>
        <p:nvSpPr>
          <p:cNvPr id="26" name="Text 18"/>
          <p:cNvSpPr/>
          <p:nvPr/>
        </p:nvSpPr>
        <p:spPr>
          <a:xfrm>
            <a:off x="3733707" y="4423172"/>
            <a:ext cx="7619809"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Action layer</a:t>
            </a:r>
            <a:endParaRPr lang="en-US" sz="1600" dirty="0"/>
          </a:p>
        </p:txBody>
      </p:sp>
      <p:sp>
        <p:nvSpPr>
          <p:cNvPr id="27" name="Text 19"/>
          <p:cNvSpPr/>
          <p:nvPr/>
        </p:nvSpPr>
        <p:spPr>
          <a:xfrm>
            <a:off x="3733707" y="4803477"/>
            <a:ext cx="7848404"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Dashboard and ambulance navigation keep people aligned.</a:t>
            </a:r>
            <a:endParaRPr lang="en-US" sz="1200" dirty="0"/>
          </a:p>
        </p:txBody>
      </p:sp>
      <p:pic>
        <p:nvPicPr>
          <p:cNvPr id="28" name="Image 6" descr="preencoded.png">    </p:cNvPr>
          <p:cNvPicPr>
            <a:picLocks noChangeAspect="1"/>
          </p:cNvPicPr>
          <p:nvPr/>
        </p:nvPicPr>
        <p:blipFill>
          <a:blip r:embed="rId7"/>
          <a:stretch>
            <a:fillRect/>
          </a:stretch>
        </p:blipFill>
        <p:spPr>
          <a:xfrm>
            <a:off x="609585" y="5820569"/>
            <a:ext cx="10972526" cy="123825"/>
          </a:xfrm>
          <a:prstGeom prst="rect">
            <a:avLst/>
          </a:prstGeom>
        </p:spPr>
      </p:pic>
      <p:sp>
        <p:nvSpPr>
          <p:cNvPr id="29" name="Text 20"/>
          <p:cNvSpPr/>
          <p:nvPr/>
        </p:nvSpPr>
        <p:spPr>
          <a:xfrm>
            <a:off x="609585" y="6115844"/>
            <a:ext cx="11582110" cy="205680"/>
          </a:xfrm>
          <a:prstGeom prst="rect">
            <a:avLst/>
          </a:prstGeom>
          <a:noFill/>
          <a:ln/>
        </p:spPr>
        <p:txBody>
          <a:bodyPr wrap="none" lIns="0" tIns="0" rIns="0" bIns="0" rtlCol="0" anchor="t"/>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The same live picture supports the driver and the control center.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SCENARIO</a:t>
            </a:r>
            <a:endParaRPr lang="en-US" sz="1100" dirty="0"/>
          </a:p>
        </p:txBody>
      </p:sp>
      <p:sp>
        <p:nvSpPr>
          <p:cNvPr id="3" name="Text 1"/>
          <p:cNvSpPr/>
          <p:nvPr/>
        </p:nvSpPr>
        <p:spPr>
          <a:xfrm>
            <a:off x="609585" y="860425"/>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An 18-minute route becomes a 32-minute trap</a:t>
            </a:r>
            <a:endParaRPr lang="en-US" sz="3000" dirty="0"/>
          </a:p>
        </p:txBody>
      </p:sp>
      <p:sp>
        <p:nvSpPr>
          <p:cNvPr id="4" name="Shape 2"/>
          <p:cNvSpPr/>
          <p:nvPr/>
        </p:nvSpPr>
        <p:spPr>
          <a:xfrm>
            <a:off x="609585" y="1450975"/>
            <a:ext cx="5257668" cy="2460625"/>
          </a:xfrm>
          <a:prstGeom prst="roundRect">
            <a:avLst>
              <a:gd name="adj" fmla="val 8671"/>
            </a:avLst>
          </a:prstGeom>
          <a:solidFill>
            <a:srgbClr val="FFFFFF"/>
          </a:solidFill>
          <a:ln w="12700">
            <a:solidFill>
              <a:srgbClr val="C6DBF1"/>
            </a:solidFill>
            <a:prstDash val="solid"/>
          </a:ln>
          <a:effectLst>
            <a:outerShdw sx="100000" sy="100000" kx="0" ky="0" algn="bl" rotWithShape="0" blurRad="127" dist="62230" dir="5400000">
              <a:srgbClr val="ff8a3d">
                <a:alpha val="100000"/>
              </a:srgbClr>
            </a:outerShdw>
          </a:effectLst>
        </p:spPr>
      </p:sp>
      <p:sp>
        <p:nvSpPr>
          <p:cNvPr id="5" name="Text 3"/>
          <p:cNvSpPr/>
          <p:nvPr/>
        </p:nvSpPr>
        <p:spPr>
          <a:xfrm>
            <a:off x="850879" y="1692275"/>
            <a:ext cx="4775081"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Before the accident prediction</a:t>
            </a:r>
            <a:endParaRPr lang="en-US" sz="2000" dirty="0"/>
          </a:p>
        </p:txBody>
      </p:sp>
      <p:sp>
        <p:nvSpPr>
          <p:cNvPr id="6" name="Text 4"/>
          <p:cNvSpPr/>
          <p:nvPr/>
        </p:nvSpPr>
        <p:spPr>
          <a:xfrm>
            <a:off x="850879" y="2108200"/>
            <a:ext cx="4775081" cy="812800"/>
          </a:xfrm>
          <a:prstGeom prst="rect">
            <a:avLst/>
          </a:prstGeom>
          <a:noFill/>
          <a:ln/>
        </p:spPr>
        <p:txBody>
          <a:bodyPr wrap="none" lIns="0" tIns="0" rIns="0" bIns="0" rtlCol="0" anchor="t"/>
          <a:lstStyle/>
          <a:p>
            <a:pPr algn="l" indent="0" marL="0">
              <a:lnSpc>
                <a:spcPct val="83000"/>
              </a:lnSpc>
              <a:buNone/>
            </a:pPr>
            <a:r>
              <a:rPr lang="en-US" sz="6400" spc="-128" kern="100" dirty="0">
                <a:solidFill>
                  <a:srgbClr val="1E2A44"/>
                </a:solidFill>
                <a:latin typeface="Red Hat Mono Medium" pitchFamily="34" charset="0"/>
                <a:ea typeface="Red Hat Mono Medium" pitchFamily="34" charset="-122"/>
                <a:cs typeface="Red Hat Mono Medium" pitchFamily="34" charset="-120"/>
              </a:rPr>
              <a:t>18 min</a:t>
            </a:r>
            <a:endParaRPr lang="en-US" sz="6400" dirty="0"/>
          </a:p>
        </p:txBody>
      </p:sp>
      <p:sp>
        <p:nvSpPr>
          <p:cNvPr id="7" name="Text 5"/>
          <p:cNvSpPr/>
          <p:nvPr/>
        </p:nvSpPr>
        <p:spPr>
          <a:xfrm>
            <a:off x="850879" y="3111500"/>
            <a:ext cx="4775081"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Original route appears fastest. The blockage has not yet changed the visible map.</a:t>
            </a:r>
            <a:endParaRPr lang="en-US" sz="1500" dirty="0"/>
          </a:p>
        </p:txBody>
      </p:sp>
      <p:sp>
        <p:nvSpPr>
          <p:cNvPr id="8" name="Shape 6"/>
          <p:cNvSpPr/>
          <p:nvPr/>
        </p:nvSpPr>
        <p:spPr>
          <a:xfrm>
            <a:off x="6324442" y="1450975"/>
            <a:ext cx="5257668" cy="2460625"/>
          </a:xfrm>
          <a:prstGeom prst="roundRect">
            <a:avLst>
              <a:gd name="adj" fmla="val 8671"/>
            </a:avLst>
          </a:prstGeom>
          <a:solidFill>
            <a:srgbClr val="FFFFFF"/>
          </a:solidFill>
          <a:ln w="25399">
            <a:solidFill>
              <a:srgbClr val="1E2A44"/>
            </a:solidFill>
            <a:prstDash val="solid"/>
          </a:ln>
          <a:effectLst>
            <a:outerShdw sx="100000" sy="100000" kx="0" ky="0" algn="bl" rotWithShape="0" blurRad="127" dist="62230" dir="5400000">
              <a:srgbClr val="3fc89a">
                <a:alpha val="100000"/>
              </a:srgbClr>
            </a:outerShdw>
          </a:effectLst>
        </p:spPr>
      </p:sp>
      <p:sp>
        <p:nvSpPr>
          <p:cNvPr id="9" name="Text 7"/>
          <p:cNvSpPr/>
          <p:nvPr/>
        </p:nvSpPr>
        <p:spPr>
          <a:xfrm>
            <a:off x="6578435" y="1704975"/>
            <a:ext cx="4749681"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At 15 minutes</a:t>
            </a:r>
            <a:endParaRPr lang="en-US" sz="2000" dirty="0"/>
          </a:p>
        </p:txBody>
      </p:sp>
      <p:sp>
        <p:nvSpPr>
          <p:cNvPr id="10" name="Text 8"/>
          <p:cNvSpPr/>
          <p:nvPr/>
        </p:nvSpPr>
        <p:spPr>
          <a:xfrm>
            <a:off x="6578435" y="2120900"/>
            <a:ext cx="4749681" cy="812800"/>
          </a:xfrm>
          <a:prstGeom prst="rect">
            <a:avLst/>
          </a:prstGeom>
          <a:noFill/>
          <a:ln/>
        </p:spPr>
        <p:txBody>
          <a:bodyPr wrap="none" lIns="0" tIns="0" rIns="0" bIns="0" rtlCol="0" anchor="t"/>
          <a:lstStyle/>
          <a:p>
            <a:pPr algn="l" indent="0" marL="0">
              <a:lnSpc>
                <a:spcPct val="83000"/>
              </a:lnSpc>
              <a:buNone/>
            </a:pPr>
            <a:r>
              <a:rPr lang="en-US" sz="6400" spc="-128" kern="100" dirty="0">
                <a:solidFill>
                  <a:srgbClr val="1E2A44"/>
                </a:solidFill>
                <a:latin typeface="Red Hat Mono Medium" pitchFamily="34" charset="0"/>
                <a:ea typeface="Red Hat Mono Medium" pitchFamily="34" charset="-122"/>
                <a:cs typeface="Red Hat Mono Medium" pitchFamily="34" charset="-120"/>
              </a:rPr>
              <a:t>15 min</a:t>
            </a:r>
            <a:endParaRPr lang="en-US" sz="6400" dirty="0"/>
          </a:p>
        </p:txBody>
      </p:sp>
      <p:sp>
        <p:nvSpPr>
          <p:cNvPr id="11" name="Text 9"/>
          <p:cNvSpPr/>
          <p:nvPr/>
        </p:nvSpPr>
        <p:spPr>
          <a:xfrm>
            <a:off x="6578435" y="3124200"/>
            <a:ext cx="4749681"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Alternative route recommended before the predicted blockage becomes a 32-minute delay.</a:t>
            </a:r>
            <a:endParaRPr lang="en-US" sz="1500" dirty="0"/>
          </a:p>
        </p:txBody>
      </p:sp>
      <p:pic>
        <p:nvPicPr>
          <p:cNvPr id="12" name="Image 0" descr="preencoded.png">    </p:cNvPr>
          <p:cNvPicPr>
            <a:picLocks noChangeAspect="1"/>
          </p:cNvPicPr>
          <p:nvPr/>
        </p:nvPicPr>
        <p:blipFill>
          <a:blip r:embed="rId1"/>
          <a:stretch>
            <a:fillRect/>
          </a:stretch>
        </p:blipFill>
        <p:spPr>
          <a:xfrm>
            <a:off x="609585" y="4083050"/>
            <a:ext cx="10972526" cy="1619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31789" y="1426270"/>
            <a:ext cx="11759906"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OUTCOME</a:t>
            </a:r>
            <a:endParaRPr lang="en-US" sz="1100" dirty="0"/>
          </a:p>
        </p:txBody>
      </p:sp>
      <p:sp>
        <p:nvSpPr>
          <p:cNvPr id="3" name="Text 1"/>
          <p:cNvSpPr/>
          <p:nvPr/>
        </p:nvSpPr>
        <p:spPr>
          <a:xfrm>
            <a:off x="431789" y="1677095"/>
            <a:ext cx="11328117" cy="1280120"/>
          </a:xfrm>
          <a:prstGeom prst="rect">
            <a:avLst/>
          </a:prstGeom>
          <a:noFill/>
          <a:ln/>
        </p:spPr>
        <p:txBody>
          <a:bodyPr wrap="square" lIns="0" tIns="0" rIns="0" bIns="0" rtlCol="0" anchor="t">
            <a:normAutofit/>
          </a:bodyPr>
          <a:lstStyle/>
          <a:p>
            <a:pPr algn="l" indent="0" marL="0">
              <a:lnSpc>
                <a:spcPct val="88000"/>
              </a:lnSpc>
              <a:buNone/>
            </a:pPr>
            <a:r>
              <a:rPr lang="en-US" sz="4800" spc="-96" kern="100" dirty="0">
                <a:solidFill>
                  <a:srgbClr val="1E2A44"/>
                </a:solidFill>
                <a:latin typeface="Urbanist ExtraBold" pitchFamily="34" charset="0"/>
                <a:ea typeface="Urbanist ExtraBold" pitchFamily="34" charset="-122"/>
                <a:cs typeface="Urbanist ExtraBold" pitchFamily="34" charset="-120"/>
              </a:rPr>
              <a:t>Better routing creates better emergency outcomes</a:t>
            </a:r>
            <a:endParaRPr lang="en-US" sz="4800" dirty="0"/>
          </a:p>
        </p:txBody>
      </p:sp>
      <p:sp>
        <p:nvSpPr>
          <p:cNvPr id="4" name="Text 2"/>
          <p:cNvSpPr/>
          <p:nvPr/>
        </p:nvSpPr>
        <p:spPr>
          <a:xfrm>
            <a:off x="431789" y="3158331"/>
            <a:ext cx="11328117"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Faster response. Reduced travel time. Earlier blockage detection. Dynamic updates. Better use of the road network. Quicker hospital access. Stronger control-center support.</a:t>
            </a:r>
            <a:endParaRPr lang="en-US" sz="1500" dirty="0"/>
          </a:p>
        </p:txBody>
      </p:sp>
      <p:pic>
        <p:nvPicPr>
          <p:cNvPr id="5" name="Image 0" descr="preencoded.png">    </p:cNvPr>
          <p:cNvPicPr>
            <a:picLocks noChangeAspect="1"/>
          </p:cNvPicPr>
          <p:nvPr/>
        </p:nvPicPr>
        <p:blipFill>
          <a:blip r:embed="rId1"/>
          <a:stretch>
            <a:fillRect/>
          </a:stretch>
        </p:blipFill>
        <p:spPr>
          <a:xfrm>
            <a:off x="431789" y="3863181"/>
            <a:ext cx="11328117" cy="123825"/>
          </a:xfrm>
          <a:prstGeom prst="rect">
            <a:avLst/>
          </a:prstGeom>
        </p:spPr>
      </p:pic>
      <p:sp>
        <p:nvSpPr>
          <p:cNvPr id="6" name="Text 3"/>
          <p:cNvSpPr/>
          <p:nvPr/>
        </p:nvSpPr>
        <p:spPr>
          <a:xfrm>
            <a:off x="431789" y="4314031"/>
            <a:ext cx="11328117" cy="1117600"/>
          </a:xfrm>
          <a:prstGeom prst="rect">
            <a:avLst/>
          </a:prstGeom>
          <a:noFill/>
          <a:ln/>
        </p:spPr>
        <p:txBody>
          <a:bodyPr wrap="square" lIns="0" tIns="0" rIns="0" bIns="0" rtlCol="0" anchor="t">
            <a:normAutofit/>
          </a:bodyPr>
          <a:lstStyle/>
          <a:p>
            <a:pPr algn="l" indent="0" marL="0">
              <a:lnSpc>
                <a:spcPct val="83000"/>
              </a:lnSpc>
              <a:buNone/>
            </a:pPr>
            <a:r>
              <a:rPr lang="en-US" sz="4400" spc="-88" kern="100" dirty="0">
                <a:solidFill>
                  <a:srgbClr val="1E2A44"/>
                </a:solidFill>
                <a:latin typeface="Red Hat Mono Medium" pitchFamily="34" charset="0"/>
                <a:ea typeface="Red Hat Mono Medium" pitchFamily="34" charset="-122"/>
                <a:cs typeface="Red Hat Mono Medium" pitchFamily="34" charset="-120"/>
              </a:rPr>
              <a:t>Every minute matters in an emergency.</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2026-10-05T08:50:27Z</dcterms:created>
  <dcterms:modified xsi:type="dcterms:W3CDTF">2026-10-05T08:50:27Z</dcterms:modified>
</cp:coreProperties>
</file>