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arkinsans Bold"/>
      <p:regular r:id="rId201314"/>
    </p:embeddedFont>
    <p:embeddedFont>
      <p:font typeface="Reddit Mono Medium"/>
      <p:regular r:id="rId201315"/>
    </p:embeddedFont>
    <p:embeddedFont>
      <p:font typeface="Reddit Sans"/>
      <p:regular r:id="rId201316"/>
    </p:embeddedFont>
    <p:embeddedFont>
      <p:font typeface="Reddit Sans Medium"/>
      <p:regular r:id="rId201317"/>
    </p:embeddedFont>
    <p:embeddedFont>
      <p:font typeface="Reddit Sans SemiBold"/>
      <p:regular r:id="rId201318"/>
    </p:embeddedFont>
    <p:embeddedFont>
      <p:font typeface="Reddi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this as a software prototype for intelligent emergency route planning. The focus is decision support: use available traffic and location information to predict risk and recommend a better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prediction gap. The system is not replacing the driver or promising certainty. It is designed to recognize likely disruption earlier and support a route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prototype begins with two locations, adds available information, predicts possible disruption, compares alternatives, and keeps the recommendation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objectives define what the prototype needs to demonstrate: prediction, route choice, updates, and visibility for the emergency control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system through the users. The driver acts on the route, the control center monitors risk and changes, and hospital staff receives destination and arrival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data through the system. The workflow ends in a dashboard recommendation, then loops back to continuous monitoring. Real-world data integrations remain future implementation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separates interface, application behavior, and data. This keeps the prototype easier to explain, test, and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AI explanation practical. Inputs describe the road situation, the model is selected during implementation, and outputs become route decision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 screens to show one journey. Start with trip details, compare routes, inspect predicted risk, then present the highlighted recommendation and warning notification.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prototype simulation. Route A begins at 15 minutes but rises to a predicted 28 minutes because of accident congestion. Route B is predicted at 17 minutes, so the system recommends Route B and keeps Route A monitored.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787400"/>
            <a:ext cx="6603835" cy="3737670"/>
          </a:xfrm>
          <a:prstGeom prst="roundRect">
            <a:avLst>
              <a:gd name="adj" fmla="val 5708"/>
            </a:avLst>
          </a:prstGeom>
          <a:solidFill>
            <a:srgbClr val="EEF2FD"/>
          </a:solidFill>
          <a:ln/>
        </p:spPr>
      </p:sp>
      <p:sp>
        <p:nvSpPr>
          <p:cNvPr id="3" name="Shape 1"/>
          <p:cNvSpPr/>
          <p:nvPr/>
        </p:nvSpPr>
        <p:spPr>
          <a:xfrm>
            <a:off x="1117572" y="1168400"/>
            <a:ext cx="2465921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4" name="Text 2"/>
          <p:cNvSpPr/>
          <p:nvPr/>
        </p:nvSpPr>
        <p:spPr>
          <a:xfrm>
            <a:off x="1244569" y="1212850"/>
            <a:ext cx="282151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AI · EMERGENCY RESPONSE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17572" y="1701800"/>
            <a:ext cx="5740256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AI-Based Emergency Ambulance Route Prediction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17572" y="3468588"/>
            <a:ext cx="5740256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 software prototype for intelligent emergency route planning.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73803" y="4699000"/>
            <a:ext cx="3428914" cy="1168400"/>
          </a:xfrm>
          <a:prstGeom prst="roundRect">
            <a:avLst>
              <a:gd name="adj" fmla="val 15652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127797" y="4902200"/>
            <a:ext cx="353051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PROPOSED PROTOTYPE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797" y="5269210"/>
            <a:ext cx="292092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Traffic signals become route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D6126F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426709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75010"/>
            <a:ext cx="3936902" cy="362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112" kern="10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Unexpected traffic turns minutes into risk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5311378"/>
            <a:ext cx="3936902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 route that looks clear now may become the slow route before the ambulance arrives.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308467" y="558800"/>
            <a:ext cx="1887986" cy="3833912"/>
          </a:xfrm>
          <a:prstGeom prst="rect">
            <a:avLst/>
          </a:prstGeom>
          <a:solidFill>
            <a:srgbClr val="FDE9F2"/>
          </a:solidFill>
          <a:ln/>
        </p:spPr>
      </p:sp>
      <p:sp>
        <p:nvSpPr>
          <p:cNvPr id="7" name="Shape 5"/>
          <p:cNvSpPr/>
          <p:nvPr/>
        </p:nvSpPr>
        <p:spPr>
          <a:xfrm>
            <a:off x="5308467" y="558800"/>
            <a:ext cx="1887986" cy="812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8" name="Shape 6"/>
          <p:cNvSpPr/>
          <p:nvPr/>
        </p:nvSpPr>
        <p:spPr>
          <a:xfrm>
            <a:off x="5308467" y="558800"/>
            <a:ext cx="1887986" cy="812701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812800"/>
            <a:ext cx="7339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01A3A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11662" y="1454150"/>
            <a:ext cx="148159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Disruption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511662" y="1913830"/>
            <a:ext cx="14815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Congestion, accidents, roadblocks, construction, and events can disrupt an ambulance route.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01246" y="558800"/>
            <a:ext cx="1887986" cy="3833912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13" name="Shape 11"/>
          <p:cNvSpPr/>
          <p:nvPr/>
        </p:nvSpPr>
        <p:spPr>
          <a:xfrm>
            <a:off x="7501246" y="558800"/>
            <a:ext cx="1887986" cy="812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14" name="Shape 12"/>
          <p:cNvSpPr/>
          <p:nvPr/>
        </p:nvSpPr>
        <p:spPr>
          <a:xfrm>
            <a:off x="7501246" y="558800"/>
            <a:ext cx="1887986" cy="812701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185" y="812800"/>
            <a:ext cx="7856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01A3A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04441" y="1454150"/>
            <a:ext cx="148159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Delay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704441" y="1913830"/>
            <a:ext cx="148159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Standard navigation may not anticipate future blockages effectively.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4025" y="558800"/>
            <a:ext cx="1888086" cy="3833912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4025" y="558800"/>
            <a:ext cx="1888086" cy="812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0" name="Shape 18"/>
          <p:cNvSpPr/>
          <p:nvPr/>
        </p:nvSpPr>
        <p:spPr>
          <a:xfrm>
            <a:off x="9694025" y="558800"/>
            <a:ext cx="1887986" cy="812701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550459" y="812800"/>
            <a:ext cx="7848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01A3A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97220" y="1454150"/>
            <a:ext cx="148169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Risk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897220" y="1913830"/>
            <a:ext cx="1481696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More travel time can reduce confidence in the first route choice.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8467" y="4621312"/>
            <a:ext cx="6273643" cy="1076920"/>
          </a:xfrm>
          <a:prstGeom prst="roundRect">
            <a:avLst>
              <a:gd name="adj" fmla="val 16981"/>
            </a:avLst>
          </a:prstGeom>
          <a:solidFill>
            <a:srgbClr val="B6D6FC"/>
          </a:solidFill>
          <a:ln/>
        </p:spPr>
      </p:sp>
      <p:sp>
        <p:nvSpPr>
          <p:cNvPr id="25" name="Text 23"/>
          <p:cNvSpPr/>
          <p:nvPr/>
        </p:nvSpPr>
        <p:spPr>
          <a:xfrm>
            <a:off x="5511662" y="4875312"/>
            <a:ext cx="586725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Prototype opportunity: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predict likely disruption, then recommend an alternative.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PROPOSED SYSTEM · ROUTE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The proposed system turns traffic signals into a route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0113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Five steps connect the trip request to a continuously updated recommendation.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257153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541613"/>
            <a:ext cx="1950592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682504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4109145"/>
            <a:ext cx="195069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Ambulance location and hospital destination.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64969" y="3257153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64969" y="3541613"/>
            <a:ext cx="1950592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3682504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Analyze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4969" y="4109145"/>
            <a:ext cx="195069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Available traffic and location information.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353" y="3257153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353" y="3541613"/>
            <a:ext cx="1950889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353" y="3682504"/>
            <a:ext cx="19508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Predict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353" y="4109145"/>
            <a:ext cx="19508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Possible congestion or blockage.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75936" y="3257153"/>
            <a:ext cx="86397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75936" y="3541613"/>
            <a:ext cx="1950592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3682504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Compare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75936" y="4109145"/>
            <a:ext cx="195069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Alternative routes and travel times.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31320" y="3257153"/>
            <a:ext cx="85941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31320" y="3541613"/>
            <a:ext cx="1950691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320" y="3682504"/>
            <a:ext cx="195079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Update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31320" y="4109145"/>
            <a:ext cx="195079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Continuously refresh the recommendation.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585" y="603408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Proposed prototype behavior · recommendation remains under human control.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PROTOTYPE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Six objectives define the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9670"/>
            <a:ext cx="3505112" cy="2226965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1718270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6" name="Text 4"/>
          <p:cNvSpPr/>
          <p:nvPr/>
        </p:nvSpPr>
        <p:spPr>
          <a:xfrm>
            <a:off x="910706" y="1794470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179" y="2156420"/>
            <a:ext cx="304792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Reduce time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38179" y="2616101"/>
            <a:ext cx="304792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Reduce predicted ambulance travel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9489" y="1489670"/>
            <a:ext cx="3352716" cy="2226965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10" name="Shape 8"/>
          <p:cNvSpPr/>
          <p:nvPr/>
        </p:nvSpPr>
        <p:spPr>
          <a:xfrm>
            <a:off x="4648084" y="1718270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01363" y="1794470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8084" y="2156420"/>
            <a:ext cx="289552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Detect blockages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8084" y="2616101"/>
            <a:ext cx="289552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Detect possible traffic blockages.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6998" y="1489670"/>
            <a:ext cx="3505112" cy="2226965"/>
          </a:xfrm>
          <a:prstGeom prst="rect">
            <a:avLst/>
          </a:prstGeom>
          <a:solidFill>
            <a:srgbClr val="FDE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5592" y="1718270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359169" y="1794470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05592" y="2156420"/>
            <a:ext cx="304792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Estimate congestion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05592" y="2616101"/>
            <a:ext cx="304792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 AI/ML to estimate congestion.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585" y="4021435"/>
            <a:ext cx="3505112" cy="2226965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8179" y="4250035"/>
            <a:ext cx="355988" cy="355997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1" name="Text 19"/>
          <p:cNvSpPr/>
          <p:nvPr/>
        </p:nvSpPr>
        <p:spPr>
          <a:xfrm>
            <a:off x="888978" y="4326434"/>
            <a:ext cx="86397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179" y="4688582"/>
            <a:ext cx="304792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Recommend routes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8179" y="5148263"/>
            <a:ext cx="32765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Recommend alternative routes.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19489" y="4021435"/>
            <a:ext cx="3352716" cy="2226965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8084" y="4250035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966" y="4326235"/>
            <a:ext cx="85941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8084" y="4688185"/>
            <a:ext cx="289552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Provide updates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48084" y="5147866"/>
            <a:ext cx="312412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Provide route updates.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76998" y="4021435"/>
            <a:ext cx="3505112" cy="2226965"/>
          </a:xfrm>
          <a:prstGeom prst="rect">
            <a:avLst/>
          </a:prstGeom>
          <a:solidFill>
            <a:srgbClr val="E6F5E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5592" y="4250035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358177" y="4326235"/>
            <a:ext cx="86000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05592" y="4688185"/>
            <a:ext cx="304792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Monitor movement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305592" y="5147866"/>
            <a:ext cx="304792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Help emergency control centers monitor movement.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Three users, one coordinated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967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Each user sees a different part of the same route decision.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958280"/>
            <a:ext cx="3108843" cy="1514971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2085280"/>
            <a:ext cx="29818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USER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6582" y="2350691"/>
            <a:ext cx="28548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Ambulance driver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6582" y="2777331"/>
            <a:ext cx="28548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Enters trip details and follows the recommended route.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3854252"/>
            <a:ext cx="310884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4519712"/>
            <a:ext cx="3108843" cy="1514971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11" name="Text 9"/>
          <p:cNvSpPr/>
          <p:nvPr/>
        </p:nvSpPr>
        <p:spPr>
          <a:xfrm>
            <a:off x="736582" y="4646712"/>
            <a:ext cx="29818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USER 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582" y="4912122"/>
            <a:ext cx="28548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Emergency control center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6582" y="5338763"/>
            <a:ext cx="28548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Monitors vehicles, traffic risk, and route changes.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120" y="1958280"/>
            <a:ext cx="4145355" cy="4360863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75517" y="2110680"/>
            <a:ext cx="39929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SHARED SYSTEM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75517" y="2376091"/>
            <a:ext cx="384056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Coordinated response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175517" y="2835771"/>
            <a:ext cx="1844034" cy="487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277114" y="2937371"/>
            <a:ext cx="17424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Login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1946" y="2835771"/>
            <a:ext cx="1844133" cy="487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73544" y="2937371"/>
            <a:ext cx="174253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Route selection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75517" y="3475732"/>
            <a:ext cx="1844034" cy="487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277114" y="3577332"/>
            <a:ext cx="17424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1946" y="3475732"/>
            <a:ext cx="1844133" cy="487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73544" y="3577332"/>
            <a:ext cx="174253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75517" y="4115693"/>
            <a:ext cx="3840563" cy="487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277114" y="4217293"/>
            <a:ext cx="373896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75517" y="4724003"/>
            <a:ext cx="384056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One prototype connects trip input, route choice, risk visibility, and communication.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73168" y="1958280"/>
            <a:ext cx="3108942" cy="1514971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29" name="Text 27"/>
          <p:cNvSpPr/>
          <p:nvPr/>
        </p:nvSpPr>
        <p:spPr>
          <a:xfrm>
            <a:off x="8600165" y="2085280"/>
            <a:ext cx="29819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USER 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00165" y="2350691"/>
            <a:ext cx="285494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Hospital staff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00165" y="2777331"/>
            <a:ext cx="285494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Receives destination and arrival context.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73168" y="3854252"/>
            <a:ext cx="310894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73168" y="4519712"/>
            <a:ext cx="3108942" cy="1799431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34" name="Text 32"/>
          <p:cNvSpPr/>
          <p:nvPr/>
        </p:nvSpPr>
        <p:spPr>
          <a:xfrm>
            <a:off x="8600165" y="4646712"/>
            <a:ext cx="29819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00165" y="4912122"/>
            <a:ext cx="285494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Route notification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600165" y="5338763"/>
            <a:ext cx="28549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Recommendation and changes remain visible to the response team.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PROTOTYPE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From location data to a route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48334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5" name="Text 3"/>
          <p:cNvSpPr/>
          <p:nvPr/>
        </p:nvSpPr>
        <p:spPr>
          <a:xfrm>
            <a:off x="682112" y="1824534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8371" y="1780084"/>
            <a:ext cx="47750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Ambulance location + hospital destination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1748334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8" name="Text 6"/>
          <p:cNvSpPr/>
          <p:nvPr/>
        </p:nvSpPr>
        <p:spPr>
          <a:xfrm>
            <a:off x="6301523" y="1824534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07030" y="1780084"/>
            <a:ext cx="47750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Collect traffic and location data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2914551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1" name="Text 9"/>
          <p:cNvSpPr/>
          <p:nvPr/>
        </p:nvSpPr>
        <p:spPr>
          <a:xfrm>
            <a:off x="663162" y="2990751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8371" y="2946301"/>
            <a:ext cx="47750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Preprocess the data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2914352"/>
            <a:ext cx="355988" cy="355997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299042" y="2990751"/>
            <a:ext cx="86397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07427" y="2946301"/>
            <a:ext cx="477468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Run AI prediction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585" y="4080867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7" name="Text 15"/>
          <p:cNvSpPr/>
          <p:nvPr/>
        </p:nvSpPr>
        <p:spPr>
          <a:xfrm>
            <a:off x="662467" y="4157067"/>
            <a:ext cx="85941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8371" y="4112617"/>
            <a:ext cx="47750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Detect possible blockages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48244" y="4080867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828" y="4157067"/>
            <a:ext cx="86000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07030" y="4112617"/>
            <a:ext cx="47750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Compare alternative routes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9585" y="5247084"/>
            <a:ext cx="355591" cy="3556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13" y="5323284"/>
            <a:ext cx="84571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8371" y="5278834"/>
            <a:ext cx="47750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Display the best route on the dashboard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48244" y="5246390"/>
            <a:ext cx="357079" cy="357088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6" name="Text 24"/>
          <p:cNvSpPr/>
          <p:nvPr/>
        </p:nvSpPr>
        <p:spPr>
          <a:xfrm>
            <a:off x="6299042" y="5323284"/>
            <a:ext cx="8650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08518" y="5278834"/>
            <a:ext cx="477359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Monitor traffic continuously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09585" y="603408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Prototype workflow; real-world data integrations are future implementation work.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Three layers keep the system modular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13470"/>
            <a:ext cx="10972526" cy="1385491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413470"/>
            <a:ext cx="126997" cy="1385491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6" name="Text 4"/>
          <p:cNvSpPr/>
          <p:nvPr/>
        </p:nvSpPr>
        <p:spPr>
          <a:xfrm>
            <a:off x="1092173" y="1606451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5805" y="1565870"/>
            <a:ext cx="1408077" cy="254000"/>
          </a:xfrm>
          <a:prstGeom prst="roundRect">
            <a:avLst>
              <a:gd name="adj" fmla="val 49999"/>
            </a:avLst>
          </a:prstGeom>
          <a:solidFill>
            <a:srgbClr val="1F4FE0"/>
          </a:solidFill>
          <a:ln/>
        </p:spPr>
      </p:sp>
      <p:sp>
        <p:nvSpPr>
          <p:cNvPr id="8" name="Text 6"/>
          <p:cNvSpPr/>
          <p:nvPr/>
        </p:nvSpPr>
        <p:spPr>
          <a:xfrm>
            <a:off x="1632802" y="1610320"/>
            <a:ext cx="176366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5805" y="1902420"/>
            <a:ext cx="972071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What users see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05805" y="2362101"/>
            <a:ext cx="1007630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Ambulance driver app and emergency control dashboard.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5" y="2951361"/>
            <a:ext cx="10972526" cy="1385491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5" y="2951361"/>
            <a:ext cx="126997" cy="1385491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173" y="3144341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44301" y="3103761"/>
            <a:ext cx="1311937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15" name="Text 13"/>
          <p:cNvSpPr/>
          <p:nvPr/>
        </p:nvSpPr>
        <p:spPr>
          <a:xfrm>
            <a:off x="1671298" y="3148211"/>
            <a:ext cx="16675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44301" y="3440311"/>
            <a:ext cx="968221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What the system does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44301" y="3899991"/>
            <a:ext cx="100378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Route management, traffic monitoring, AI prediction, route recommendation, and notifications.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585" y="4489252"/>
            <a:ext cx="10972526" cy="1385491"/>
          </a:xfrm>
          <a:prstGeom prst="rect">
            <a:avLst/>
          </a:prstGeom>
          <a:solidFill>
            <a:srgbClr val="E6F5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4489252"/>
            <a:ext cx="126997" cy="1385491"/>
          </a:xfrm>
          <a:prstGeom prst="rect">
            <a:avLst/>
          </a:prstGeom>
          <a:solidFill>
            <a:srgbClr val="1281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173" y="4682232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43706" y="4641652"/>
            <a:ext cx="638754" cy="254000"/>
          </a:xfrm>
          <a:prstGeom prst="roundRect">
            <a:avLst>
              <a:gd name="adj" fmla="val 49999"/>
            </a:avLst>
          </a:prstGeom>
          <a:solidFill>
            <a:srgbClr val="12813B"/>
          </a:solidFill>
          <a:ln/>
        </p:spPr>
      </p:sp>
      <p:sp>
        <p:nvSpPr>
          <p:cNvPr id="22" name="Text 20"/>
          <p:cNvSpPr/>
          <p:nvPr/>
        </p:nvSpPr>
        <p:spPr>
          <a:xfrm>
            <a:off x="1670703" y="4686102"/>
            <a:ext cx="99434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43706" y="4978202"/>
            <a:ext cx="968281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What the system stores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543706" y="5437882"/>
            <a:ext cx="1003840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User, ambulance, traffic, road/route, and historical traffic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AI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The AI component predicts risk, not certainty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967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model supports a route decision; it does not guarantee the future.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951930"/>
            <a:ext cx="3454314" cy="3898007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377" y="2282130"/>
            <a:ext cx="831035" cy="254000"/>
          </a:xfrm>
          <a:prstGeom prst="roundRect">
            <a:avLst>
              <a:gd name="adj" fmla="val 49999"/>
            </a:avLst>
          </a:prstGeom>
          <a:solidFill>
            <a:srgbClr val="1F4FE0"/>
          </a:solidFill>
          <a:ln/>
        </p:spPr>
      </p:sp>
      <p:sp>
        <p:nvSpPr>
          <p:cNvPr id="7" name="Text 5"/>
          <p:cNvSpPr/>
          <p:nvPr/>
        </p:nvSpPr>
        <p:spPr>
          <a:xfrm>
            <a:off x="1041374" y="2326580"/>
            <a:ext cx="118662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377" y="2618680"/>
            <a:ext cx="284472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Signals from the trip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377" y="3078361"/>
            <a:ext cx="2844729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Current speed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Traffic density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Historical patterns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Road incidents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GPS/location information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8691" y="1951930"/>
            <a:ext cx="3454314" cy="3898007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11" name="Shape 9"/>
          <p:cNvSpPr/>
          <p:nvPr/>
        </p:nvSpPr>
        <p:spPr>
          <a:xfrm>
            <a:off x="4673483" y="2282130"/>
            <a:ext cx="734895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480" y="2326580"/>
            <a:ext cx="109048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3483" y="2618680"/>
            <a:ext cx="284472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Suitable ML approach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73483" y="3078361"/>
            <a:ext cx="284472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Selected during implementation based on available data.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3483" y="4876800"/>
            <a:ext cx="284472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prototype explanation stays focused on software behavior rather than mathematical formulas.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7797" y="1951930"/>
            <a:ext cx="3454314" cy="3898007"/>
          </a:xfrm>
          <a:prstGeom prst="rect">
            <a:avLst/>
          </a:prstGeom>
          <a:solidFill>
            <a:srgbClr val="E6F5EB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2589" y="2282130"/>
            <a:ext cx="927176" cy="254000"/>
          </a:xfrm>
          <a:prstGeom prst="roundRect">
            <a:avLst>
              <a:gd name="adj" fmla="val 49999"/>
            </a:avLst>
          </a:prstGeom>
          <a:solidFill>
            <a:srgbClr val="12813B"/>
          </a:solidFill>
          <a:ln/>
        </p:spPr>
      </p:sp>
      <p:sp>
        <p:nvSpPr>
          <p:cNvPr id="18" name="Text 16"/>
          <p:cNvSpPr/>
          <p:nvPr/>
        </p:nvSpPr>
        <p:spPr>
          <a:xfrm>
            <a:off x="8559586" y="2326580"/>
            <a:ext cx="128276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OUTPUTS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32589" y="2618680"/>
            <a:ext cx="284472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Decision support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32589" y="3078361"/>
            <a:ext cx="2844729" cy="129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Predicted congestion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Estimated travel time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Possible blockage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Recommended route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585" y="603408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Prediction informs the response team; it does not replace human judgment.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PROTOTYPE UI · EXAMPLE SCREENS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Prototype UI: four screens for one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967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 single trip moves from identity and location to recommendation and warning.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26530"/>
            <a:ext cx="10972526" cy="30272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37944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Realistic interface mockups for evaluation · prototype screens, not a deployed live system.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609584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PROTOTYPE SIMULATION ·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8810"/>
            <a:ext cx="574025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Route B avoids the predicted delay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824930"/>
            <a:ext cx="60958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Situation: an ambulance needs to reach a hospital.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61791"/>
            <a:ext cx="4952876" cy="276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12941"/>
            <a:ext cx="60958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Illustrative prototype values · not a live result.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023" y="533400"/>
            <a:ext cx="4521087" cy="38179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2026-10-05T08:53:34Z</dcterms:created>
  <dcterms:modified xsi:type="dcterms:W3CDTF">2026-10-05T08:53:34Z</dcterms:modified>
</cp:coreProperties>
</file>